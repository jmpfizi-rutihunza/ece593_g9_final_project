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cd887a00f8_0_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g3cd887a00f8_0_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Good Evening, everyone. I'm Sal, and together with my teammates Janvier and Frezewd, we've been working on Milestone 5 — the final deliverable for our multiprocessor system verification project. Today we'll walk you through our UVM testbench architecture, our bug injection strategy, and our coverage results.</a:t>
            </a:r>
            <a:endParaRPr/>
          </a:p>
        </p:txBody>
      </p:sp>
      <p:sp>
        <p:nvSpPr>
          <p:cNvPr id="54" name="Google Shape;54;g3cd887a00f8_0_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0192b3e9a_2_22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3d0192b3e9a_2_22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This project focuses on designing and verifying a multiprocessor system where several processor cores share the same memory.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The cores communicate through a shared bus controlled by a centralized arbiter to ensure fair access.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 shared cache and memory subsystem store the data used by the processors.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To verify the correctness of the system, we implemented a UVM-based verification environment that generates transactions, drives them to the design, and checks the outputs.</a:t>
            </a:r>
            <a:endParaRPr/>
          </a:p>
        </p:txBody>
      </p:sp>
      <p:sp>
        <p:nvSpPr>
          <p:cNvPr id="102" name="Google Shape;102;g3d0192b3e9a_2_22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cf99068e00_0_39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g3cf99068e00_0_394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slide shows the hardware architecture of the multiprocessor system. The system consists of four processor cores, each containing an instruction unit, an ALU, and a memory interface unit. All cores connect to a shared bus that provides access to the shared cache and memory subsystem. A centralized round-robin arbiter sits between the cores and the cache to control access to the bus. Below the arbiter is a shared cache, followed by the main memory subsystem. The cache contains 128 lines with 16 bytes per line and uses a write-back policy to improve memory performance and maintain data consistency</a:t>
            </a:r>
            <a:endParaRPr/>
          </a:p>
        </p:txBody>
      </p:sp>
      <p:sp>
        <p:nvSpPr>
          <p:cNvPr id="113" name="Google Shape;113;g3cf99068e00_0_394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d0192b3e9a_2_33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3d0192b3e9a_2_33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Milestone 1 focused on project setup and system architecture. The team prepared the design specification and created the initial RTL structure.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Milestone 2 focused on building the class based verification environment. The team implemented the generator, driver, monitor, and scoreboard. Initial functional tests started in this phase.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Milestone 3 expanded coverage driven verification. The team added more test scenarios and targeted coverage gaps.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Milestone 4 introduced the UVM verification environment. Agents, sequencer, driver, and monitor were integrated. Directed and constrained random tests ran to validate the design.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Milestone 5 completed the verification process. The team added bug injection scenarios, finalized coverage reports, and prepared the final documentation and presentation.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g3d0192b3e9a_2_33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cd887a00f8_0_9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cd887a00f8_0_95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 the UVM testbench, stimulus generation begins with sequence items, which represent individual transactions such as memory reads or writes.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These sequence items are generated by sequences that define specific test scenarios. The sequencer then manages the order of these transactions and sends them to the driver.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 the verification environment, each DUT interface is represented by an agent, which contains three main components: the sequencer, the driver, and the monitor.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The sequencer generates and schedules transaction sequences, the driver converts these transactions into signal-level activity and applies them to the DUT through the interface, and the monitor observes the DUT signals and collects the responses. A virtual interface connects the driver and monitor in the UVM testbench to the SystemVerilog interface used to communicate with the DUT.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The monitor sends the captured transactions to the scoreboard, which compares the expected results with the actual DUT outputs to verify the correctness of the design.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1" name="Google Shape;141;g3cd887a00f8_0_95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ffaf60381_1_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cffaf60381_1_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why do we inject bugs at all? Three reasons. First, industry data shows over 85% of silicon re-spins come from functional bugs that slipped through verification — UVM is the standard used at Intel, AMD, and Qualcomm to prevent that. Second, a testbench that never sees a failure hasn't proven it works. If it can't catch a known bug, it won't catch an unknown one. Third, this milestone closes the loop — Milestones 1 through 4 built the environment, and Milestone 5 proves it actually works.</a:t>
            </a:r>
            <a:endParaRPr/>
          </a:p>
        </p:txBody>
      </p:sp>
      <p:sp>
        <p:nvSpPr>
          <p:cNvPr id="150" name="Google Shape;150;g3cffaf60381_1_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cffaf60381_1_14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g3cffaf60381_1_149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built a layered sequence library for different test goals. The base sequence runs 1,000 random transactions across all opcodes and cores. Directed sequences target specific paths — write-only or read-only. Scenario sequences test data persistence, like storing and then loading from the same address. Our coverage closure sequence is fully deterministic — it hits all 14 opcodes across 3 address regions to guarantee 100% coverage. Finally, virtual sequences run all four cores in parallel using a semaphore pool.</a:t>
            </a:r>
            <a:endParaRPr/>
          </a:p>
        </p:txBody>
      </p:sp>
      <p:sp>
        <p:nvSpPr>
          <p:cNvPr id="173" name="Google Shape;173;g3cffaf60381_1_149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cffaf60381_1_19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g3cffaf60381_1_193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injected three bugs, all controlled by a single define at the top of the DUT file — no file swaps needed. Bug 1 changes ADD so it computes A minus B instead of A plus B — the scoreboard catches this immediately with 8 directed vectors. Bug 2 breaks arbiter fairness by locking all transactions to Core 0 — coverage drops to 25% on the core coverpoint. Bug 3 silently removes the memory write, so a LOAD after a STORE always reads stale data — the write-read sequence catches this corruption.</a:t>
            </a:r>
            <a:endParaRPr/>
          </a:p>
        </p:txBody>
      </p:sp>
      <p:sp>
        <p:nvSpPr>
          <p:cNvPr id="216" name="Google Shape;216;g3cffaf60381_1_193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d02d30be57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d02d30be5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d02d30be57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d02d30be5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d0192b3e9a_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3d0192b3e9a_2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d0192b3e9a_2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3d0192b3e9a_2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/>
          <p:nvPr/>
        </p:nvSpPr>
        <p:spPr>
          <a:xfrm>
            <a:off x="0" y="0"/>
            <a:ext cx="164700" cy="5143500"/>
          </a:xfrm>
          <a:prstGeom prst="rect">
            <a:avLst/>
          </a:prstGeom>
          <a:solidFill>
            <a:srgbClr val="00C2CB"/>
          </a:solidFill>
          <a:ln cap="flat" cmpd="sng" w="12700">
            <a:solidFill>
              <a:srgbClr val="00C2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4"/>
          <p:cNvSpPr/>
          <p:nvPr/>
        </p:nvSpPr>
        <p:spPr>
          <a:xfrm>
            <a:off x="6583680" y="228600"/>
            <a:ext cx="63900" cy="63900"/>
          </a:xfrm>
          <a:prstGeom prst="ellipse">
            <a:avLst/>
          </a:prstGeom>
          <a:solidFill>
            <a:srgbClr val="00C2CB">
              <a:alpha val="40000"/>
            </a:srgbClr>
          </a:solidFill>
          <a:ln cap="flat" cmpd="sng" w="12700">
            <a:solidFill>
              <a:srgbClr val="00C2C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6931152" y="228600"/>
            <a:ext cx="63900" cy="63900"/>
          </a:xfrm>
          <a:prstGeom prst="ellipse">
            <a:avLst/>
          </a:prstGeom>
          <a:solidFill>
            <a:srgbClr val="00C2CB">
              <a:alpha val="40000"/>
            </a:srgbClr>
          </a:solidFill>
          <a:ln cap="flat" cmpd="sng" w="12700">
            <a:solidFill>
              <a:srgbClr val="00C2C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4"/>
          <p:cNvSpPr/>
          <p:nvPr/>
        </p:nvSpPr>
        <p:spPr>
          <a:xfrm>
            <a:off x="7278624" y="228600"/>
            <a:ext cx="63900" cy="63900"/>
          </a:xfrm>
          <a:prstGeom prst="ellipse">
            <a:avLst/>
          </a:prstGeom>
          <a:solidFill>
            <a:srgbClr val="00C2CB">
              <a:alpha val="40000"/>
            </a:srgbClr>
          </a:solidFill>
          <a:ln cap="flat" cmpd="sng" w="12700">
            <a:solidFill>
              <a:srgbClr val="00C2C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4"/>
          <p:cNvSpPr/>
          <p:nvPr/>
        </p:nvSpPr>
        <p:spPr>
          <a:xfrm>
            <a:off x="7626096" y="228600"/>
            <a:ext cx="63900" cy="63900"/>
          </a:xfrm>
          <a:prstGeom prst="ellipse">
            <a:avLst/>
          </a:prstGeom>
          <a:solidFill>
            <a:srgbClr val="00C2CB">
              <a:alpha val="40000"/>
            </a:srgbClr>
          </a:solidFill>
          <a:ln cap="flat" cmpd="sng" w="12700">
            <a:solidFill>
              <a:srgbClr val="00C2C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/>
          <p:nvPr/>
        </p:nvSpPr>
        <p:spPr>
          <a:xfrm>
            <a:off x="7973568" y="228600"/>
            <a:ext cx="63900" cy="63900"/>
          </a:xfrm>
          <a:prstGeom prst="ellipse">
            <a:avLst/>
          </a:prstGeom>
          <a:solidFill>
            <a:srgbClr val="00C2CB">
              <a:alpha val="40000"/>
            </a:srgbClr>
          </a:solidFill>
          <a:ln cap="flat" cmpd="sng" w="12700">
            <a:solidFill>
              <a:srgbClr val="00C2C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/>
          <p:nvPr/>
        </p:nvSpPr>
        <p:spPr>
          <a:xfrm>
            <a:off x="8321040" y="228600"/>
            <a:ext cx="63900" cy="63900"/>
          </a:xfrm>
          <a:prstGeom prst="ellipse">
            <a:avLst/>
          </a:prstGeom>
          <a:solidFill>
            <a:srgbClr val="00C2CB">
              <a:alpha val="40000"/>
            </a:srgbClr>
          </a:solidFill>
          <a:ln cap="flat" cmpd="sng" w="12700">
            <a:solidFill>
              <a:srgbClr val="00C2C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/>
          <p:nvPr/>
        </p:nvSpPr>
        <p:spPr>
          <a:xfrm>
            <a:off x="6583680" y="576072"/>
            <a:ext cx="63900" cy="63900"/>
          </a:xfrm>
          <a:prstGeom prst="ellipse">
            <a:avLst/>
          </a:prstGeom>
          <a:solidFill>
            <a:srgbClr val="00C2CB">
              <a:alpha val="40000"/>
            </a:srgbClr>
          </a:solidFill>
          <a:ln cap="flat" cmpd="sng" w="12700">
            <a:solidFill>
              <a:srgbClr val="00C2C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/>
          <p:nvPr/>
        </p:nvSpPr>
        <p:spPr>
          <a:xfrm>
            <a:off x="6931152" y="576072"/>
            <a:ext cx="63900" cy="63900"/>
          </a:xfrm>
          <a:prstGeom prst="ellipse">
            <a:avLst/>
          </a:prstGeom>
          <a:solidFill>
            <a:srgbClr val="00C2CB">
              <a:alpha val="40000"/>
            </a:srgbClr>
          </a:solidFill>
          <a:ln cap="flat" cmpd="sng" w="12700">
            <a:solidFill>
              <a:srgbClr val="00C2C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7278624" y="576072"/>
            <a:ext cx="63900" cy="63900"/>
          </a:xfrm>
          <a:prstGeom prst="ellipse">
            <a:avLst/>
          </a:prstGeom>
          <a:solidFill>
            <a:srgbClr val="00C2CB">
              <a:alpha val="40000"/>
            </a:srgbClr>
          </a:solidFill>
          <a:ln cap="flat" cmpd="sng" w="12700">
            <a:solidFill>
              <a:srgbClr val="00C2C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/>
          <p:nvPr/>
        </p:nvSpPr>
        <p:spPr>
          <a:xfrm>
            <a:off x="7626096" y="576072"/>
            <a:ext cx="63900" cy="63900"/>
          </a:xfrm>
          <a:prstGeom prst="ellipse">
            <a:avLst/>
          </a:prstGeom>
          <a:solidFill>
            <a:srgbClr val="00C2CB">
              <a:alpha val="40000"/>
            </a:srgbClr>
          </a:solidFill>
          <a:ln cap="flat" cmpd="sng" w="12700">
            <a:solidFill>
              <a:srgbClr val="00C2C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4"/>
          <p:cNvSpPr/>
          <p:nvPr/>
        </p:nvSpPr>
        <p:spPr>
          <a:xfrm>
            <a:off x="7973568" y="576072"/>
            <a:ext cx="63900" cy="63900"/>
          </a:xfrm>
          <a:prstGeom prst="ellipse">
            <a:avLst/>
          </a:prstGeom>
          <a:solidFill>
            <a:srgbClr val="00C2CB">
              <a:alpha val="40000"/>
            </a:srgbClr>
          </a:solidFill>
          <a:ln cap="flat" cmpd="sng" w="12700">
            <a:solidFill>
              <a:srgbClr val="00C2C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4"/>
          <p:cNvSpPr/>
          <p:nvPr/>
        </p:nvSpPr>
        <p:spPr>
          <a:xfrm>
            <a:off x="8321040" y="576072"/>
            <a:ext cx="63900" cy="63900"/>
          </a:xfrm>
          <a:prstGeom prst="ellipse">
            <a:avLst/>
          </a:prstGeom>
          <a:solidFill>
            <a:srgbClr val="00C2CB">
              <a:alpha val="40000"/>
            </a:srgbClr>
          </a:solidFill>
          <a:ln cap="flat" cmpd="sng" w="12700">
            <a:solidFill>
              <a:srgbClr val="00C2C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/>
          <p:nvPr/>
        </p:nvSpPr>
        <p:spPr>
          <a:xfrm>
            <a:off x="6583680" y="923544"/>
            <a:ext cx="63900" cy="63900"/>
          </a:xfrm>
          <a:prstGeom prst="ellipse">
            <a:avLst/>
          </a:prstGeom>
          <a:solidFill>
            <a:srgbClr val="00C2CB">
              <a:alpha val="40000"/>
            </a:srgbClr>
          </a:solidFill>
          <a:ln cap="flat" cmpd="sng" w="12700">
            <a:solidFill>
              <a:srgbClr val="00C2C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/>
          <p:nvPr/>
        </p:nvSpPr>
        <p:spPr>
          <a:xfrm>
            <a:off x="6931152" y="923544"/>
            <a:ext cx="63900" cy="63900"/>
          </a:xfrm>
          <a:prstGeom prst="ellipse">
            <a:avLst/>
          </a:prstGeom>
          <a:solidFill>
            <a:srgbClr val="00C2CB">
              <a:alpha val="40000"/>
            </a:srgbClr>
          </a:solidFill>
          <a:ln cap="flat" cmpd="sng" w="12700">
            <a:solidFill>
              <a:srgbClr val="00C2C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4"/>
          <p:cNvSpPr/>
          <p:nvPr/>
        </p:nvSpPr>
        <p:spPr>
          <a:xfrm>
            <a:off x="7278624" y="923544"/>
            <a:ext cx="63900" cy="63900"/>
          </a:xfrm>
          <a:prstGeom prst="ellipse">
            <a:avLst/>
          </a:prstGeom>
          <a:solidFill>
            <a:srgbClr val="00C2CB">
              <a:alpha val="40000"/>
            </a:srgbClr>
          </a:solidFill>
          <a:ln cap="flat" cmpd="sng" w="12700">
            <a:solidFill>
              <a:srgbClr val="00C2C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4"/>
          <p:cNvSpPr/>
          <p:nvPr/>
        </p:nvSpPr>
        <p:spPr>
          <a:xfrm>
            <a:off x="7626096" y="923544"/>
            <a:ext cx="63900" cy="63900"/>
          </a:xfrm>
          <a:prstGeom prst="ellipse">
            <a:avLst/>
          </a:prstGeom>
          <a:solidFill>
            <a:srgbClr val="00C2CB">
              <a:alpha val="40000"/>
            </a:srgbClr>
          </a:solidFill>
          <a:ln cap="flat" cmpd="sng" w="12700">
            <a:solidFill>
              <a:srgbClr val="00C2C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4"/>
          <p:cNvSpPr/>
          <p:nvPr/>
        </p:nvSpPr>
        <p:spPr>
          <a:xfrm>
            <a:off x="7973568" y="923544"/>
            <a:ext cx="63900" cy="63900"/>
          </a:xfrm>
          <a:prstGeom prst="ellipse">
            <a:avLst/>
          </a:prstGeom>
          <a:solidFill>
            <a:srgbClr val="00C2CB">
              <a:alpha val="40000"/>
            </a:srgbClr>
          </a:solidFill>
          <a:ln cap="flat" cmpd="sng" w="12700">
            <a:solidFill>
              <a:srgbClr val="00C2C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4"/>
          <p:cNvSpPr/>
          <p:nvPr/>
        </p:nvSpPr>
        <p:spPr>
          <a:xfrm>
            <a:off x="8321040" y="923544"/>
            <a:ext cx="63900" cy="63900"/>
          </a:xfrm>
          <a:prstGeom prst="ellipse">
            <a:avLst/>
          </a:prstGeom>
          <a:solidFill>
            <a:srgbClr val="00C2CB">
              <a:alpha val="40000"/>
            </a:srgbClr>
          </a:solidFill>
          <a:ln cap="flat" cmpd="sng" w="12700">
            <a:solidFill>
              <a:srgbClr val="00C2C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4"/>
          <p:cNvSpPr/>
          <p:nvPr/>
        </p:nvSpPr>
        <p:spPr>
          <a:xfrm>
            <a:off x="6583680" y="1271016"/>
            <a:ext cx="63900" cy="63900"/>
          </a:xfrm>
          <a:prstGeom prst="ellipse">
            <a:avLst/>
          </a:prstGeom>
          <a:solidFill>
            <a:srgbClr val="00C2CB">
              <a:alpha val="40000"/>
            </a:srgbClr>
          </a:solidFill>
          <a:ln cap="flat" cmpd="sng" w="12700">
            <a:solidFill>
              <a:srgbClr val="00C2C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4"/>
          <p:cNvSpPr/>
          <p:nvPr/>
        </p:nvSpPr>
        <p:spPr>
          <a:xfrm>
            <a:off x="6931152" y="1271016"/>
            <a:ext cx="63900" cy="63900"/>
          </a:xfrm>
          <a:prstGeom prst="ellipse">
            <a:avLst/>
          </a:prstGeom>
          <a:solidFill>
            <a:srgbClr val="00C2CB">
              <a:alpha val="40000"/>
            </a:srgbClr>
          </a:solidFill>
          <a:ln cap="flat" cmpd="sng" w="12700">
            <a:solidFill>
              <a:srgbClr val="00C2C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4"/>
          <p:cNvSpPr/>
          <p:nvPr/>
        </p:nvSpPr>
        <p:spPr>
          <a:xfrm>
            <a:off x="7278624" y="1271016"/>
            <a:ext cx="63900" cy="63900"/>
          </a:xfrm>
          <a:prstGeom prst="ellipse">
            <a:avLst/>
          </a:prstGeom>
          <a:solidFill>
            <a:srgbClr val="00C2CB">
              <a:alpha val="40000"/>
            </a:srgbClr>
          </a:solidFill>
          <a:ln cap="flat" cmpd="sng" w="12700">
            <a:solidFill>
              <a:srgbClr val="00C2C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4"/>
          <p:cNvSpPr/>
          <p:nvPr/>
        </p:nvSpPr>
        <p:spPr>
          <a:xfrm>
            <a:off x="7626096" y="1271016"/>
            <a:ext cx="63900" cy="63900"/>
          </a:xfrm>
          <a:prstGeom prst="ellipse">
            <a:avLst/>
          </a:prstGeom>
          <a:solidFill>
            <a:srgbClr val="00C2CB">
              <a:alpha val="40000"/>
            </a:srgbClr>
          </a:solidFill>
          <a:ln cap="flat" cmpd="sng" w="12700">
            <a:solidFill>
              <a:srgbClr val="00C2C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4"/>
          <p:cNvSpPr/>
          <p:nvPr/>
        </p:nvSpPr>
        <p:spPr>
          <a:xfrm>
            <a:off x="7973568" y="1271016"/>
            <a:ext cx="63900" cy="63900"/>
          </a:xfrm>
          <a:prstGeom prst="ellipse">
            <a:avLst/>
          </a:prstGeom>
          <a:solidFill>
            <a:srgbClr val="00C2CB">
              <a:alpha val="40000"/>
            </a:srgbClr>
          </a:solidFill>
          <a:ln cap="flat" cmpd="sng" w="12700">
            <a:solidFill>
              <a:srgbClr val="00C2C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4"/>
          <p:cNvSpPr/>
          <p:nvPr/>
        </p:nvSpPr>
        <p:spPr>
          <a:xfrm>
            <a:off x="8321040" y="1271016"/>
            <a:ext cx="63900" cy="63900"/>
          </a:xfrm>
          <a:prstGeom prst="ellipse">
            <a:avLst/>
          </a:prstGeom>
          <a:solidFill>
            <a:srgbClr val="00C2CB">
              <a:alpha val="40000"/>
            </a:srgbClr>
          </a:solidFill>
          <a:ln cap="flat" cmpd="sng" w="12700">
            <a:solidFill>
              <a:srgbClr val="00C2C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4"/>
          <p:cNvSpPr/>
          <p:nvPr/>
        </p:nvSpPr>
        <p:spPr>
          <a:xfrm>
            <a:off x="365760" y="502920"/>
            <a:ext cx="8412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CB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ECE-593: Fundamentals of Pre-Silicon Validation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4"/>
          <p:cNvSpPr/>
          <p:nvPr/>
        </p:nvSpPr>
        <p:spPr>
          <a:xfrm>
            <a:off x="365760" y="1005840"/>
            <a:ext cx="8412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Multiprocessor System Verification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4"/>
          <p:cNvSpPr/>
          <p:nvPr/>
        </p:nvSpPr>
        <p:spPr>
          <a:xfrm>
            <a:off x="365760" y="1783080"/>
            <a:ext cx="8412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CB"/>
              </a:buClr>
              <a:buSzPts val="2000"/>
              <a:buFont typeface="Calibri"/>
              <a:buNone/>
            </a:pPr>
            <a:r>
              <a:rPr b="0" i="0" lang="en" sz="20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Milestone 5 Final Deliverables &amp; Presentation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4"/>
          <p:cNvSpPr/>
          <p:nvPr/>
        </p:nvSpPr>
        <p:spPr>
          <a:xfrm>
            <a:off x="365760" y="2377440"/>
            <a:ext cx="8412600" cy="22800"/>
          </a:xfrm>
          <a:prstGeom prst="rect">
            <a:avLst/>
          </a:prstGeom>
          <a:solidFill>
            <a:srgbClr val="008B92"/>
          </a:solidFill>
          <a:ln cap="flat" cmpd="sng" w="12700">
            <a:solidFill>
              <a:srgbClr val="008B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4"/>
          <p:cNvSpPr/>
          <p:nvPr/>
        </p:nvSpPr>
        <p:spPr>
          <a:xfrm>
            <a:off x="365760" y="2514600"/>
            <a:ext cx="8412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C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Team Members:  </a:t>
            </a:r>
            <a:r>
              <a:rPr b="0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Janvier Mpfizi Rutihunza  •  Frezewd Debebe  •  Sal Esmaeil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4"/>
          <p:cNvSpPr/>
          <p:nvPr/>
        </p:nvSpPr>
        <p:spPr>
          <a:xfrm>
            <a:off x="365760" y="2880360"/>
            <a:ext cx="8412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C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Instructor:  </a:t>
            </a:r>
            <a:r>
              <a:rPr b="0" i="0" lang="en" sz="1300" u="none" cap="none" strike="noStrike">
                <a:solidFill>
                  <a:srgbClr val="8EAFC0"/>
                </a:solidFill>
                <a:latin typeface="Calibri"/>
                <a:ea typeface="Calibri"/>
                <a:cs typeface="Calibri"/>
                <a:sym typeface="Calibri"/>
              </a:rPr>
              <a:t>Prof. Venkatesh Patil  |  Portland State University  |  Winter 2026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4"/>
          <p:cNvSpPr/>
          <p:nvPr/>
        </p:nvSpPr>
        <p:spPr>
          <a:xfrm>
            <a:off x="274320" y="4023360"/>
            <a:ext cx="1920300" cy="868800"/>
          </a:xfrm>
          <a:prstGeom prst="rect">
            <a:avLst/>
          </a:prstGeom>
          <a:solidFill>
            <a:srgbClr val="132232"/>
          </a:solidFill>
          <a:ln cap="flat" cmpd="sng" w="12700">
            <a:solidFill>
              <a:srgbClr val="00C2C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4"/>
          <p:cNvSpPr/>
          <p:nvPr/>
        </p:nvSpPr>
        <p:spPr>
          <a:xfrm>
            <a:off x="274320" y="4041648"/>
            <a:ext cx="1920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CB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4"/>
          <p:cNvSpPr/>
          <p:nvPr/>
        </p:nvSpPr>
        <p:spPr>
          <a:xfrm>
            <a:off x="274320" y="4434840"/>
            <a:ext cx="1920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AFC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EAFC0"/>
                </a:solidFill>
                <a:latin typeface="Calibri"/>
                <a:ea typeface="Calibri"/>
                <a:cs typeface="Calibri"/>
                <a:sym typeface="Calibri"/>
              </a:rPr>
              <a:t>Milestones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4"/>
          <p:cNvSpPr/>
          <p:nvPr/>
        </p:nvSpPr>
        <p:spPr>
          <a:xfrm>
            <a:off x="2468880" y="4023360"/>
            <a:ext cx="1920300" cy="868800"/>
          </a:xfrm>
          <a:prstGeom prst="rect">
            <a:avLst/>
          </a:prstGeom>
          <a:solidFill>
            <a:srgbClr val="132232"/>
          </a:solidFill>
          <a:ln cap="flat" cmpd="sng" w="12700">
            <a:solidFill>
              <a:srgbClr val="00C2C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4"/>
          <p:cNvSpPr/>
          <p:nvPr/>
        </p:nvSpPr>
        <p:spPr>
          <a:xfrm>
            <a:off x="2468880" y="4041648"/>
            <a:ext cx="1920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CB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10+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/>
          <p:nvPr/>
        </p:nvSpPr>
        <p:spPr>
          <a:xfrm>
            <a:off x="2468880" y="4434840"/>
            <a:ext cx="1920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AFC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EAFC0"/>
                </a:solidFill>
                <a:latin typeface="Calibri"/>
                <a:ea typeface="Calibri"/>
                <a:cs typeface="Calibri"/>
                <a:sym typeface="Calibri"/>
              </a:rPr>
              <a:t>UVM Components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4663440" y="4023360"/>
            <a:ext cx="1920300" cy="868800"/>
          </a:xfrm>
          <a:prstGeom prst="rect">
            <a:avLst/>
          </a:prstGeom>
          <a:solidFill>
            <a:srgbClr val="132232"/>
          </a:solidFill>
          <a:ln cap="flat" cmpd="sng" w="12700">
            <a:solidFill>
              <a:srgbClr val="00C2C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4663440" y="4041648"/>
            <a:ext cx="1920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CB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4663440" y="4434840"/>
            <a:ext cx="1920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AFC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EAFC0"/>
                </a:solidFill>
                <a:latin typeface="Calibri"/>
                <a:ea typeface="Calibri"/>
                <a:cs typeface="Calibri"/>
                <a:sym typeface="Calibri"/>
              </a:rPr>
              <a:t>Opcodes Verified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6858000" y="4023360"/>
            <a:ext cx="1920300" cy="868800"/>
          </a:xfrm>
          <a:prstGeom prst="rect">
            <a:avLst/>
          </a:prstGeom>
          <a:solidFill>
            <a:srgbClr val="132232"/>
          </a:solidFill>
          <a:ln cap="flat" cmpd="sng" w="12700">
            <a:solidFill>
              <a:srgbClr val="00C2C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6858000" y="4041648"/>
            <a:ext cx="1920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CB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6858000" y="4434840"/>
            <a:ext cx="1920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AFC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EAFC0"/>
                </a:solidFill>
                <a:latin typeface="Calibri"/>
                <a:ea typeface="Calibri"/>
                <a:cs typeface="Calibri"/>
                <a:sym typeface="Calibri"/>
              </a:rPr>
              <a:t>Bug Scenarios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322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5"/>
          <p:cNvSpPr/>
          <p:nvPr/>
        </p:nvSpPr>
        <p:spPr>
          <a:xfrm>
            <a:off x="0" y="868680"/>
            <a:ext cx="9144000" cy="4560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5"/>
          <p:cNvSpPr/>
          <p:nvPr/>
        </p:nvSpPr>
        <p:spPr>
          <a:xfrm>
            <a:off x="365760" y="164592"/>
            <a:ext cx="8412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365760" y="1005840"/>
            <a:ext cx="8412600" cy="822900"/>
          </a:xfrm>
          <a:prstGeom prst="rect">
            <a:avLst/>
          </a:prstGeom>
          <a:solidFill>
            <a:srgbClr val="132232"/>
          </a:solidFill>
          <a:ln cap="flat" cmpd="sng" w="19050">
            <a:solidFill>
              <a:srgbClr val="00C2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286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OBJECTIVE  </a:t>
            </a:r>
            <a:r>
              <a:rPr b="0" i="0" lang="en" sz="1100" u="none" cap="none" strike="noStrike">
                <a:solidFill>
                  <a:srgbClr val="C8E6E8"/>
                </a:solidFill>
                <a:latin typeface="Calibri"/>
                <a:ea typeface="Calibri"/>
                <a:cs typeface="Calibri"/>
                <a:sym typeface="Calibri"/>
              </a:rPr>
              <a:t>Design and verify a multiprocessor system with shared memory architecture using UVM-based verification methodology</a:t>
            </a:r>
            <a:endParaRPr/>
          </a:p>
        </p:txBody>
      </p:sp>
      <p:sp>
        <p:nvSpPr>
          <p:cNvPr id="108" name="Google Shape;108;p15"/>
          <p:cNvSpPr/>
          <p:nvPr/>
        </p:nvSpPr>
        <p:spPr>
          <a:xfrm>
            <a:off x="365760" y="1920240"/>
            <a:ext cx="4069200" cy="2000400"/>
          </a:xfrm>
          <a:prstGeom prst="rect">
            <a:avLst/>
          </a:prstGeom>
          <a:solidFill>
            <a:srgbClr val="132232"/>
          </a:solidFill>
          <a:ln cap="flat" cmpd="sng" w="19050">
            <a:solidFill>
              <a:srgbClr val="00C2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228600" spcFirstLastPara="1" rIns="91425" wrap="square" tIns="228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KEY FEATURES</a:t>
            </a:r>
            <a:endParaRPr/>
          </a:p>
          <a:p>
            <a:pPr indent="-182880" lvl="0" marL="18288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C2CB"/>
              </a:buClr>
              <a:buSzPts val="1000"/>
              <a:buFont typeface="Calibri"/>
              <a:buChar char="▸"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Shared-memory multiprocessor architecture</a:t>
            </a:r>
            <a:endParaRPr/>
          </a:p>
          <a:p>
            <a:pPr indent="-182880" lvl="0" marL="18288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C2CB"/>
              </a:buClr>
              <a:buSzPts val="1000"/>
              <a:buFont typeface="Calibri"/>
              <a:buChar char="▸"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Centralized round-robin arbiter for bus access</a:t>
            </a:r>
            <a:endParaRPr/>
          </a:p>
          <a:p>
            <a:pPr indent="-182880" lvl="0" marL="18288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C2CB"/>
              </a:buClr>
              <a:buSzPts val="1000"/>
              <a:buFont typeface="Calibri"/>
              <a:buChar char="▸"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Cache and memory subsystem for data storage</a:t>
            </a:r>
            <a:endParaRPr/>
          </a:p>
          <a:p>
            <a:pPr indent="-182880" lvl="0" marL="18288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C2CB"/>
              </a:buClr>
              <a:buSzPts val="1000"/>
              <a:buFont typeface="Calibri"/>
              <a:buChar char="▸"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Transaction-based verification using UVM</a:t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4709040" y="1920240"/>
            <a:ext cx="4069200" cy="2000400"/>
          </a:xfrm>
          <a:prstGeom prst="rect">
            <a:avLst/>
          </a:prstGeom>
          <a:solidFill>
            <a:srgbClr val="132232"/>
          </a:solidFill>
          <a:ln cap="flat" cmpd="sng" w="19050">
            <a:solidFill>
              <a:srgbClr val="00C2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228600" spcFirstLastPara="1" rIns="91425" wrap="square" tIns="228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VERIFICATION GOALS</a:t>
            </a:r>
            <a:endParaRPr/>
          </a:p>
          <a:p>
            <a:pPr indent="-182880" lvl="0" marL="18288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C2CB"/>
              </a:buClr>
              <a:buSzPts val="1000"/>
              <a:buFont typeface="Calibri"/>
              <a:buChar char="▸"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Multi-core memory access correctness</a:t>
            </a:r>
            <a:endParaRPr/>
          </a:p>
          <a:p>
            <a:pPr indent="-182880" lvl="0" marL="18288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C2CB"/>
              </a:buClr>
              <a:buSzPts val="1000"/>
              <a:buFont typeface="Calibri"/>
              <a:buChar char="▸"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 arbitration between processors</a:t>
            </a:r>
            <a:endParaRPr/>
          </a:p>
          <a:p>
            <a:pPr indent="-182880" lvl="0" marL="18288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C2CB"/>
              </a:buClr>
              <a:buSzPts val="1000"/>
              <a:buFont typeface="Calibri"/>
              <a:buChar char="▸"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integrity during read/write operations</a:t>
            </a:r>
            <a:endParaRPr/>
          </a:p>
          <a:p>
            <a:pPr indent="-182880" lvl="0" marL="18288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C2CB"/>
              </a:buClr>
              <a:buSzPts val="1000"/>
              <a:buFont typeface="Calibri"/>
              <a:buChar char="▸"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100% functional coverage closure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F4F5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/>
          <p:nvPr/>
        </p:nvSpPr>
        <p:spPr>
          <a:xfrm>
            <a:off x="0" y="-9087"/>
            <a:ext cx="9144000" cy="7590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6"/>
          <p:cNvSpPr/>
          <p:nvPr/>
        </p:nvSpPr>
        <p:spPr>
          <a:xfrm>
            <a:off x="365760" y="164592"/>
            <a:ext cx="8412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Multiprocessor System Architecture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0" y="759000"/>
            <a:ext cx="4878300" cy="43848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" sz="1100">
                <a:solidFill>
                  <a:schemeClr val="lt1"/>
                </a:solidFill>
              </a:rPr>
              <a:t>Four processor cores (CORE-1 to CORE-4). </a:t>
            </a:r>
            <a:endParaRPr b="1"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" sz="1100">
                <a:solidFill>
                  <a:schemeClr val="lt1"/>
                </a:solidFill>
              </a:rPr>
              <a:t>Each c</a:t>
            </a:r>
            <a:r>
              <a:rPr b="1" lang="en" sz="1100">
                <a:solidFill>
                  <a:schemeClr val="lt1"/>
                </a:solidFill>
              </a:rPr>
              <a:t>o</a:t>
            </a:r>
            <a:r>
              <a:rPr b="1" lang="en" sz="1100">
                <a:solidFill>
                  <a:schemeClr val="lt1"/>
                </a:solidFill>
              </a:rPr>
              <a:t>re contains:</a:t>
            </a:r>
            <a:endParaRPr b="1" sz="1100">
              <a:solidFill>
                <a:schemeClr val="lt1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</a:pPr>
            <a:r>
              <a:rPr lang="en" sz="1100">
                <a:solidFill>
                  <a:schemeClr val="lt1"/>
                </a:solidFill>
              </a:rPr>
              <a:t>Instruction Unit</a:t>
            </a:r>
            <a:endParaRPr sz="1100">
              <a:solidFill>
                <a:schemeClr val="lt1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</a:pPr>
            <a:r>
              <a:rPr lang="en" sz="1100">
                <a:solidFill>
                  <a:schemeClr val="lt1"/>
                </a:solidFill>
              </a:rPr>
              <a:t>ALU</a:t>
            </a:r>
            <a:endParaRPr sz="1100">
              <a:solidFill>
                <a:schemeClr val="lt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</a:pPr>
            <a:r>
              <a:rPr lang="en" sz="1100">
                <a:solidFill>
                  <a:schemeClr val="lt1"/>
                </a:solidFill>
              </a:rPr>
              <a:t>Memory Interface Unit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Shared System Components</a:t>
            </a:r>
            <a:endParaRPr b="1" sz="12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Shared Bus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Round-Robin Arbiter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Shared Cache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Memory Subsystem (2 KB)</a:t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Cache Organization</a:t>
            </a:r>
            <a:endParaRPr b="1" sz="12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128 cache lines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16 bytes per line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Write-back policy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Ensures a single coherent copy of each memory block</a:t>
            </a:r>
            <a:endParaRPr b="1"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lt1"/>
              </a:solidFill>
            </a:endParaRPr>
          </a:p>
        </p:txBody>
      </p:sp>
      <p:pic>
        <p:nvPicPr>
          <p:cNvPr id="118" name="Google Shape;11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4250" y="715275"/>
            <a:ext cx="5149752" cy="443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/>
          <p:nvPr/>
        </p:nvSpPr>
        <p:spPr>
          <a:xfrm>
            <a:off x="0" y="0"/>
            <a:ext cx="9144000" cy="5508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7"/>
          <p:cNvSpPr/>
          <p:nvPr/>
        </p:nvSpPr>
        <p:spPr>
          <a:xfrm>
            <a:off x="365750" y="60000"/>
            <a:ext cx="84126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Milestone Roadmap</a:t>
            </a:r>
            <a:endParaRPr/>
          </a:p>
        </p:txBody>
      </p:sp>
      <p:sp>
        <p:nvSpPr>
          <p:cNvPr id="126" name="Google Shape;126;p17"/>
          <p:cNvSpPr/>
          <p:nvPr/>
        </p:nvSpPr>
        <p:spPr>
          <a:xfrm>
            <a:off x="0" y="550700"/>
            <a:ext cx="9144000" cy="4560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7"/>
          <p:cNvSpPr/>
          <p:nvPr/>
        </p:nvSpPr>
        <p:spPr>
          <a:xfrm>
            <a:off x="365760" y="1350000"/>
            <a:ext cx="8412600" cy="22800"/>
          </a:xfrm>
          <a:prstGeom prst="rect">
            <a:avLst/>
          </a:prstGeom>
          <a:solidFill>
            <a:srgbClr val="1E3A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7"/>
          <p:cNvSpPr/>
          <p:nvPr/>
        </p:nvSpPr>
        <p:spPr>
          <a:xfrm>
            <a:off x="475560" y="1213200"/>
            <a:ext cx="274200" cy="274200"/>
          </a:xfrm>
          <a:prstGeom prst="ellipse">
            <a:avLst/>
          </a:prstGeom>
          <a:solidFill>
            <a:srgbClr val="00C2C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29" name="Google Shape;129;p17"/>
          <p:cNvSpPr/>
          <p:nvPr/>
        </p:nvSpPr>
        <p:spPr>
          <a:xfrm>
            <a:off x="365760" y="1554480"/>
            <a:ext cx="1645800" cy="2343000"/>
          </a:xfrm>
          <a:prstGeom prst="rect">
            <a:avLst/>
          </a:prstGeom>
          <a:solidFill>
            <a:srgbClr val="132232"/>
          </a:solidFill>
          <a:ln cap="flat" cmpd="sng" w="12700">
            <a:solidFill>
              <a:srgbClr val="00C2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52400" spcFirstLastPara="1" rIns="152400" wrap="square" tIns="152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Project Setup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C8E6E8"/>
                </a:solidFill>
                <a:latin typeface="Calibri"/>
                <a:ea typeface="Calibri"/>
                <a:cs typeface="Calibri"/>
                <a:sym typeface="Calibri"/>
              </a:rPr>
              <a:t>Design spec and architecture defined. Initial RTL structure created.</a:t>
            </a:r>
            <a:endParaRPr/>
          </a:p>
        </p:txBody>
      </p:sp>
      <p:sp>
        <p:nvSpPr>
          <p:cNvPr id="130" name="Google Shape;130;p17"/>
          <p:cNvSpPr/>
          <p:nvPr/>
        </p:nvSpPr>
        <p:spPr>
          <a:xfrm>
            <a:off x="2148480" y="1213200"/>
            <a:ext cx="274200" cy="274200"/>
          </a:xfrm>
          <a:prstGeom prst="ellipse">
            <a:avLst/>
          </a:prstGeom>
          <a:solidFill>
            <a:srgbClr val="00C2C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31" name="Google Shape;131;p17"/>
          <p:cNvSpPr/>
          <p:nvPr/>
        </p:nvSpPr>
        <p:spPr>
          <a:xfrm>
            <a:off x="2011680" y="1554480"/>
            <a:ext cx="1645800" cy="2343000"/>
          </a:xfrm>
          <a:prstGeom prst="rect">
            <a:avLst/>
          </a:prstGeom>
          <a:solidFill>
            <a:srgbClr val="132232"/>
          </a:solidFill>
          <a:ln cap="flat" cmpd="sng" w="12700">
            <a:solidFill>
              <a:srgbClr val="00C2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52400" spcFirstLastPara="1" rIns="152400" wrap="square" tIns="152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Class-Based TB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C8E6E8"/>
                </a:solidFill>
                <a:latin typeface="Calibri"/>
                <a:ea typeface="Calibri"/>
                <a:cs typeface="Calibri"/>
                <a:sym typeface="Calibri"/>
              </a:rPr>
              <a:t>Driver, monitor, generator, scoreboard built. Initial tests executed.</a:t>
            </a:r>
            <a:endParaRPr/>
          </a:p>
        </p:txBody>
      </p:sp>
      <p:sp>
        <p:nvSpPr>
          <p:cNvPr id="132" name="Google Shape;132;p17"/>
          <p:cNvSpPr/>
          <p:nvPr/>
        </p:nvSpPr>
        <p:spPr>
          <a:xfrm>
            <a:off x="3821400" y="1213200"/>
            <a:ext cx="274200" cy="274200"/>
          </a:xfrm>
          <a:prstGeom prst="ellipse">
            <a:avLst/>
          </a:prstGeom>
          <a:solidFill>
            <a:srgbClr val="00C2C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33" name="Google Shape;133;p17"/>
          <p:cNvSpPr/>
          <p:nvPr/>
        </p:nvSpPr>
        <p:spPr>
          <a:xfrm>
            <a:off x="3657600" y="1554480"/>
            <a:ext cx="1645800" cy="2343000"/>
          </a:xfrm>
          <a:prstGeom prst="rect">
            <a:avLst/>
          </a:prstGeom>
          <a:solidFill>
            <a:srgbClr val="132232"/>
          </a:solidFill>
          <a:ln cap="flat" cmpd="sng" w="12700">
            <a:solidFill>
              <a:srgbClr val="00C2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52400" spcFirstLastPara="1" rIns="152400" wrap="square" tIns="152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Coverage-Driven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C8E6E8"/>
                </a:solidFill>
                <a:latin typeface="Calibri"/>
                <a:ea typeface="Calibri"/>
                <a:cs typeface="Calibri"/>
                <a:sym typeface="Calibri"/>
              </a:rPr>
              <a:t>Additional test scenarios. Coverage gaps identified and targeted.</a:t>
            </a:r>
            <a:endParaRPr/>
          </a:p>
        </p:txBody>
      </p:sp>
      <p:sp>
        <p:nvSpPr>
          <p:cNvPr id="134" name="Google Shape;134;p17"/>
          <p:cNvSpPr/>
          <p:nvPr/>
        </p:nvSpPr>
        <p:spPr>
          <a:xfrm>
            <a:off x="5494320" y="1213200"/>
            <a:ext cx="274200" cy="274200"/>
          </a:xfrm>
          <a:prstGeom prst="ellipse">
            <a:avLst/>
          </a:prstGeom>
          <a:solidFill>
            <a:srgbClr val="00C2C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35" name="Google Shape;135;p17"/>
          <p:cNvSpPr/>
          <p:nvPr/>
        </p:nvSpPr>
        <p:spPr>
          <a:xfrm>
            <a:off x="5303520" y="1554480"/>
            <a:ext cx="1645800" cy="2343000"/>
          </a:xfrm>
          <a:prstGeom prst="rect">
            <a:avLst/>
          </a:prstGeom>
          <a:solidFill>
            <a:srgbClr val="132232"/>
          </a:solidFill>
          <a:ln cap="flat" cmpd="sng" w="12700">
            <a:solidFill>
              <a:srgbClr val="00C2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52400" spcFirstLastPara="1" rIns="152400" wrap="square" tIns="152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UVM Testbench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C8E6E8"/>
                </a:solidFill>
                <a:latin typeface="Calibri"/>
                <a:ea typeface="Calibri"/>
                <a:cs typeface="Calibri"/>
                <a:sym typeface="Calibri"/>
              </a:rPr>
              <a:t>Agents, sequencer, driver, monitor integrated. Directed and random tests.</a:t>
            </a:r>
            <a:endParaRPr/>
          </a:p>
        </p:txBody>
      </p:sp>
      <p:sp>
        <p:nvSpPr>
          <p:cNvPr id="136" name="Google Shape;136;p17"/>
          <p:cNvSpPr/>
          <p:nvPr/>
        </p:nvSpPr>
        <p:spPr>
          <a:xfrm>
            <a:off x="7167240" y="1213200"/>
            <a:ext cx="274200" cy="2742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C2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37" name="Google Shape;137;p17"/>
          <p:cNvSpPr/>
          <p:nvPr/>
        </p:nvSpPr>
        <p:spPr>
          <a:xfrm>
            <a:off x="6949440" y="1554480"/>
            <a:ext cx="1645800" cy="2343000"/>
          </a:xfrm>
          <a:prstGeom prst="rect">
            <a:avLst/>
          </a:prstGeom>
          <a:solidFill>
            <a:srgbClr val="0A3D4A"/>
          </a:solidFill>
          <a:ln cap="flat" cmpd="sng" w="25400">
            <a:solidFill>
              <a:srgbClr val="00C2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52400" spcFirstLastPara="1" rIns="152400" wrap="square" tIns="152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Bug Injection ★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Bug scenarios, coverage finalized. Final docs and presentation.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8"/>
          <p:cNvSpPr/>
          <p:nvPr/>
        </p:nvSpPr>
        <p:spPr>
          <a:xfrm>
            <a:off x="26350" y="28825"/>
            <a:ext cx="9085800" cy="4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UVM Architecture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0" y="643225"/>
            <a:ext cx="5023200" cy="45003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b="1" lang="en" sz="1200">
                <a:solidFill>
                  <a:schemeClr val="lt1"/>
                </a:solidFill>
              </a:rPr>
              <a:t>Test</a:t>
            </a:r>
            <a:endParaRPr b="1" sz="1200">
              <a:solidFill>
                <a:schemeClr val="lt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</a:pPr>
            <a:r>
              <a:rPr b="1" lang="en" sz="1100">
                <a:solidFill>
                  <a:schemeClr val="lt1"/>
                </a:solidFill>
              </a:rPr>
              <a:t>Sequence</a:t>
            </a:r>
            <a:r>
              <a:rPr lang="en" sz="1100">
                <a:solidFill>
                  <a:schemeClr val="lt1"/>
                </a:solidFill>
              </a:rPr>
              <a:t>: Defines specific test scenarios</a:t>
            </a:r>
            <a:endParaRPr b="1" sz="1100">
              <a:solidFill>
                <a:schemeClr val="lt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</a:pPr>
            <a:r>
              <a:rPr b="1" lang="en" sz="1100">
                <a:solidFill>
                  <a:schemeClr val="lt1"/>
                </a:solidFill>
              </a:rPr>
              <a:t>Sequence_item: </a:t>
            </a:r>
            <a:r>
              <a:rPr lang="en" sz="1100">
                <a:solidFill>
                  <a:schemeClr val="lt1"/>
                </a:solidFill>
              </a:rPr>
              <a:t>Represents a single operation sent to the DUT</a:t>
            </a:r>
            <a:endParaRPr b="1"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" sz="1200">
                <a:solidFill>
                  <a:schemeClr val="lt1"/>
                </a:solidFill>
              </a:rPr>
              <a:t>Environment</a:t>
            </a:r>
            <a:endParaRPr b="1" sz="1100">
              <a:solidFill>
                <a:schemeClr val="lt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</a:pPr>
            <a:r>
              <a:rPr lang="en" sz="1100">
                <a:solidFill>
                  <a:schemeClr val="lt1"/>
                </a:solidFill>
              </a:rPr>
              <a:t>Top container that connects all verification components</a:t>
            </a:r>
            <a:endParaRPr sz="1100">
              <a:solidFill>
                <a:schemeClr val="lt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</a:pPr>
            <a:r>
              <a:rPr lang="en" sz="1100">
                <a:solidFill>
                  <a:schemeClr val="lt1"/>
                </a:solidFill>
              </a:rPr>
              <a:t>Scoreboard</a:t>
            </a:r>
            <a:endParaRPr sz="1100">
              <a:solidFill>
                <a:schemeClr val="lt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</a:pPr>
            <a:r>
              <a:rPr lang="en" sz="1100">
                <a:solidFill>
                  <a:schemeClr val="lt1"/>
                </a:solidFill>
              </a:rPr>
              <a:t>Compares expected results with DUT output to detect errors</a:t>
            </a:r>
            <a:endParaRPr sz="11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b="1" lang="en" sz="1200">
                <a:solidFill>
                  <a:schemeClr val="lt1"/>
                </a:solidFill>
              </a:rPr>
              <a:t>Agent </a:t>
            </a:r>
            <a:endParaRPr b="1" sz="1200">
              <a:solidFill>
                <a:schemeClr val="lt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</a:pPr>
            <a:r>
              <a:rPr lang="en" sz="1200">
                <a:solidFill>
                  <a:schemeClr val="lt1"/>
                </a:solidFill>
              </a:rPr>
              <a:t>Sequencer: </a:t>
            </a:r>
            <a:r>
              <a:rPr lang="en" sz="1100">
                <a:solidFill>
                  <a:schemeClr val="lt1"/>
                </a:solidFill>
              </a:rPr>
              <a:t>Manages order of sequence items</a:t>
            </a:r>
            <a:endParaRPr sz="1100">
              <a:solidFill>
                <a:schemeClr val="lt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</a:pPr>
            <a:r>
              <a:rPr lang="en" sz="1200">
                <a:solidFill>
                  <a:schemeClr val="lt1"/>
                </a:solidFill>
              </a:rPr>
              <a:t>Driver: </a:t>
            </a:r>
            <a:r>
              <a:rPr lang="en" sz="1100">
                <a:solidFill>
                  <a:schemeClr val="lt1"/>
                </a:solidFill>
              </a:rPr>
              <a:t>Converts transactions into DUT signal activity</a:t>
            </a:r>
            <a:endParaRPr sz="1100">
              <a:solidFill>
                <a:schemeClr val="lt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</a:pPr>
            <a:r>
              <a:rPr lang="en" sz="1200">
                <a:solidFill>
                  <a:schemeClr val="lt1"/>
                </a:solidFill>
              </a:rPr>
              <a:t>Monitor: </a:t>
            </a:r>
            <a:r>
              <a:rPr lang="en" sz="1100">
                <a:solidFill>
                  <a:schemeClr val="lt1"/>
                </a:solidFill>
              </a:rPr>
              <a:t>Observes DUT signals and converts them into transactions.</a:t>
            </a:r>
            <a:endParaRPr sz="10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b="1" lang="en" sz="1200">
                <a:solidFill>
                  <a:schemeClr val="lt1"/>
                </a:solidFill>
              </a:rPr>
              <a:t>Interface</a:t>
            </a:r>
            <a:endParaRPr b="1" sz="1200">
              <a:solidFill>
                <a:schemeClr val="lt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</a:pPr>
            <a:r>
              <a:rPr lang="en" sz="1100">
                <a:solidFill>
                  <a:schemeClr val="lt1"/>
                </a:solidFill>
              </a:rPr>
              <a:t>Connects the UVM testbench with the DUT signals.</a:t>
            </a:r>
            <a:endParaRPr sz="11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b="1" lang="en" sz="1200">
                <a:solidFill>
                  <a:schemeClr val="lt1"/>
                </a:solidFill>
              </a:rPr>
              <a:t>Coverage </a:t>
            </a:r>
            <a:endParaRPr b="1" sz="1200">
              <a:solidFill>
                <a:schemeClr val="lt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</a:pPr>
            <a:r>
              <a:rPr lang="en" sz="1100">
                <a:solidFill>
                  <a:schemeClr val="lt1"/>
                </a:solidFill>
              </a:rPr>
              <a:t>Tracks functional coverage during the simulation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4949875" y="4739925"/>
            <a:ext cx="4268100" cy="2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325" lIns="92750" spcFirstLastPara="1" rIns="92750" wrap="square" tIns="463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1"/>
              <a:buFont typeface="Arial"/>
              <a:buNone/>
            </a:pPr>
            <a:r>
              <a:rPr b="0" i="1" lang="en" sz="81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UVM TB Architecture  |  ECE-593: Fundamentals of Pre-Silicon Validation (Prof. Venkatesh Patil)</a:t>
            </a:r>
            <a:endParaRPr sz="1419"/>
          </a:p>
        </p:txBody>
      </p:sp>
      <p:pic>
        <p:nvPicPr>
          <p:cNvPr id="146" name="Google Shape;146;p18" title="UVM_Architecture_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9875" y="0"/>
            <a:ext cx="4162277" cy="510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9"/>
          <p:cNvSpPr/>
          <p:nvPr/>
        </p:nvSpPr>
        <p:spPr>
          <a:xfrm>
            <a:off x="0" y="0"/>
            <a:ext cx="164700" cy="5143500"/>
          </a:xfrm>
          <a:prstGeom prst="rect">
            <a:avLst/>
          </a:prstGeom>
          <a:solidFill>
            <a:srgbClr val="0E7C7B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9"/>
          <p:cNvSpPr/>
          <p:nvPr/>
        </p:nvSpPr>
        <p:spPr>
          <a:xfrm>
            <a:off x="347472" y="256032"/>
            <a:ext cx="8412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9FC"/>
              </a:buClr>
              <a:buSzPts val="2800"/>
              <a:buFont typeface="Calibri"/>
              <a:buNone/>
            </a:pPr>
            <a:r>
              <a:rPr b="1" i="0" lang="en" sz="2800" u="none" cap="none" strike="noStrike">
                <a:solidFill>
                  <a:srgbClr val="F7F9FC"/>
                </a:solidFill>
                <a:latin typeface="Calibri"/>
                <a:ea typeface="Calibri"/>
                <a:cs typeface="Calibri"/>
                <a:sym typeface="Calibri"/>
              </a:rPr>
              <a:t>Why UVM Bug Injection?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4" name="Google Shape;154;p19"/>
          <p:cNvCxnSpPr/>
          <p:nvPr/>
        </p:nvCxnSpPr>
        <p:spPr>
          <a:xfrm>
            <a:off x="347472" y="868680"/>
            <a:ext cx="8412600" cy="0"/>
          </a:xfrm>
          <a:prstGeom prst="straightConnector1">
            <a:avLst/>
          </a:prstGeom>
          <a:noFill/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" name="Google Shape;155;p19"/>
          <p:cNvSpPr/>
          <p:nvPr/>
        </p:nvSpPr>
        <p:spPr>
          <a:xfrm>
            <a:off x="347472" y="1051560"/>
            <a:ext cx="8412600" cy="1079100"/>
          </a:xfrm>
          <a:prstGeom prst="rect">
            <a:avLst/>
          </a:prstGeom>
          <a:solidFill>
            <a:srgbClr val="0A2540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9"/>
          <p:cNvSpPr/>
          <p:nvPr/>
        </p:nvSpPr>
        <p:spPr>
          <a:xfrm>
            <a:off x="347472" y="1051560"/>
            <a:ext cx="73200" cy="1079100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9"/>
          <p:cNvSpPr/>
          <p:nvPr/>
        </p:nvSpPr>
        <p:spPr>
          <a:xfrm>
            <a:off x="502920" y="1161288"/>
            <a:ext cx="502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9"/>
          <p:cNvSpPr/>
          <p:nvPr/>
        </p:nvSpPr>
        <p:spPr>
          <a:xfrm>
            <a:off x="1078992" y="1143000"/>
            <a:ext cx="7223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9FC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F7F9FC"/>
                </a:solidFill>
                <a:latin typeface="Calibri"/>
                <a:ea typeface="Calibri"/>
                <a:cs typeface="Calibri"/>
                <a:sym typeface="Calibri"/>
              </a:rPr>
              <a:t>Industry Reality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9"/>
          <p:cNvSpPr/>
          <p:nvPr/>
        </p:nvSpPr>
        <p:spPr>
          <a:xfrm>
            <a:off x="1078992" y="1472184"/>
            <a:ext cx="7406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6F2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D9E6F2"/>
                </a:solidFill>
                <a:latin typeface="Calibri"/>
                <a:ea typeface="Calibri"/>
                <a:cs typeface="Calibri"/>
                <a:sym typeface="Calibri"/>
              </a:rPr>
              <a:t>85%+ of silicon re-spins trace back to functional bugs that escaped verification. UVM is the industry standard — used at Intel, AMD, Qualcomm.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347472" y="2286000"/>
            <a:ext cx="8412600" cy="1079100"/>
          </a:xfrm>
          <a:prstGeom prst="rect">
            <a:avLst/>
          </a:prstGeom>
          <a:solidFill>
            <a:srgbClr val="0A2540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9"/>
          <p:cNvSpPr/>
          <p:nvPr/>
        </p:nvSpPr>
        <p:spPr>
          <a:xfrm>
            <a:off x="347472" y="2286000"/>
            <a:ext cx="73200" cy="1079100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9"/>
          <p:cNvSpPr/>
          <p:nvPr/>
        </p:nvSpPr>
        <p:spPr>
          <a:xfrm>
            <a:off x="502920" y="2395728"/>
            <a:ext cx="502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1078992" y="2377440"/>
            <a:ext cx="7223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9FC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F7F9FC"/>
                </a:solidFill>
                <a:latin typeface="Calibri"/>
                <a:ea typeface="Calibri"/>
                <a:cs typeface="Calibri"/>
                <a:sym typeface="Calibri"/>
              </a:rPr>
              <a:t>Prove the TB Works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1078992" y="2706624"/>
            <a:ext cx="7406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6F2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D9E6F2"/>
                </a:solidFill>
                <a:latin typeface="Calibri"/>
                <a:ea typeface="Calibri"/>
                <a:cs typeface="Calibri"/>
                <a:sym typeface="Calibri"/>
              </a:rPr>
              <a:t>A testbench that never sees a failure is not proven correct. Bug injection validates the TB itself — if it can't catch known bugs, it can't catch unknown ones.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347472" y="3520440"/>
            <a:ext cx="8412600" cy="1079100"/>
          </a:xfrm>
          <a:prstGeom prst="rect">
            <a:avLst/>
          </a:prstGeom>
          <a:solidFill>
            <a:srgbClr val="0A2540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9"/>
          <p:cNvSpPr/>
          <p:nvPr/>
        </p:nvSpPr>
        <p:spPr>
          <a:xfrm>
            <a:off x="347472" y="3520440"/>
            <a:ext cx="73200" cy="1079100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9"/>
          <p:cNvSpPr/>
          <p:nvPr/>
        </p:nvSpPr>
        <p:spPr>
          <a:xfrm>
            <a:off x="502920" y="3630168"/>
            <a:ext cx="502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9"/>
          <p:cNvSpPr/>
          <p:nvPr/>
        </p:nvSpPr>
        <p:spPr>
          <a:xfrm>
            <a:off x="1078992" y="3611880"/>
            <a:ext cx="7223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9FC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F7F9FC"/>
                </a:solidFill>
                <a:latin typeface="Calibri"/>
                <a:ea typeface="Calibri"/>
                <a:cs typeface="Calibri"/>
                <a:sym typeface="Calibri"/>
              </a:rPr>
              <a:t>MS5 Completes the Loop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1078992" y="3941064"/>
            <a:ext cx="7406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6F2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D9E6F2"/>
                </a:solidFill>
                <a:latin typeface="Calibri"/>
                <a:ea typeface="Calibri"/>
                <a:cs typeface="Calibri"/>
                <a:sym typeface="Calibri"/>
              </a:rPr>
              <a:t>MS1→MS4 built the environment. MS5 closes the verification loop: inject real bugs, demonstrate live detection, achieve 100% coverage closure.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0"/>
          <p:cNvSpPr/>
          <p:nvPr/>
        </p:nvSpPr>
        <p:spPr>
          <a:xfrm>
            <a:off x="0" y="0"/>
            <a:ext cx="164700" cy="5143500"/>
          </a:xfrm>
          <a:prstGeom prst="rect">
            <a:avLst/>
          </a:prstGeom>
          <a:solidFill>
            <a:srgbClr val="0E7C7B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0"/>
          <p:cNvSpPr/>
          <p:nvPr/>
        </p:nvSpPr>
        <p:spPr>
          <a:xfrm>
            <a:off x="347472" y="201168"/>
            <a:ext cx="841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9FC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F7F9FC"/>
                </a:solidFill>
                <a:latin typeface="Calibri"/>
                <a:ea typeface="Calibri"/>
                <a:cs typeface="Calibri"/>
                <a:sym typeface="Calibri"/>
              </a:rPr>
              <a:t>Sequence Library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7" name="Google Shape;177;p20"/>
          <p:cNvCxnSpPr/>
          <p:nvPr/>
        </p:nvCxnSpPr>
        <p:spPr>
          <a:xfrm>
            <a:off x="347472" y="731520"/>
            <a:ext cx="8412600" cy="0"/>
          </a:xfrm>
          <a:prstGeom prst="straightConnector1">
            <a:avLst/>
          </a:prstGeom>
          <a:noFill/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8" name="Google Shape;178;p20"/>
          <p:cNvSpPr/>
          <p:nvPr/>
        </p:nvSpPr>
        <p:spPr>
          <a:xfrm>
            <a:off x="347472" y="841248"/>
            <a:ext cx="8412600" cy="530400"/>
          </a:xfrm>
          <a:prstGeom prst="rect">
            <a:avLst/>
          </a:prstGeom>
          <a:solidFill>
            <a:srgbClr val="0A1E30"/>
          </a:solidFill>
          <a:ln cap="flat" cmpd="sng" w="9525">
            <a:solidFill>
              <a:srgbClr val="1A3A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0"/>
          <p:cNvSpPr/>
          <p:nvPr/>
        </p:nvSpPr>
        <p:spPr>
          <a:xfrm>
            <a:off x="411480" y="960120"/>
            <a:ext cx="914400" cy="255900"/>
          </a:xfrm>
          <a:prstGeom prst="roundRect">
            <a:avLst>
              <a:gd fmla="val 14286" name="adj"/>
            </a:avLst>
          </a:prstGeom>
          <a:solidFill>
            <a:srgbClr val="0D1B2A"/>
          </a:solidFill>
          <a:ln cap="flat" cmpd="sng" w="12700">
            <a:solidFill>
              <a:srgbClr val="D9E6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0"/>
          <p:cNvSpPr/>
          <p:nvPr/>
        </p:nvSpPr>
        <p:spPr>
          <a:xfrm>
            <a:off x="411480" y="960120"/>
            <a:ext cx="914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E6F2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D9E6F2"/>
                </a:solidFill>
                <a:latin typeface="Calibri"/>
                <a:ea typeface="Calibri"/>
                <a:cs typeface="Calibri"/>
                <a:sym typeface="Calibri"/>
              </a:rPr>
              <a:t>BASE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1417320" y="877824"/>
            <a:ext cx="3200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6F2"/>
              </a:buClr>
              <a:buSzPts val="1050"/>
              <a:buFont typeface="Consolas"/>
              <a:buNone/>
            </a:pPr>
            <a:r>
              <a:rPr b="1" i="0" lang="en" sz="1050" u="none" cap="none" strike="noStrike">
                <a:solidFill>
                  <a:srgbClr val="D9E6F2"/>
                </a:solidFill>
                <a:latin typeface="Consolas"/>
                <a:ea typeface="Consolas"/>
                <a:cs typeface="Consolas"/>
                <a:sym typeface="Consolas"/>
              </a:rPr>
              <a:t>mp_sequence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1417320" y="1115568"/>
            <a:ext cx="7223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6F2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D9E6F2"/>
                </a:solidFill>
                <a:latin typeface="Calibri"/>
                <a:ea typeface="Calibri"/>
                <a:cs typeface="Calibri"/>
                <a:sym typeface="Calibri"/>
              </a:rPr>
              <a:t>1000 random transactions — all opcodes, all cores, address corners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347472" y="1444752"/>
            <a:ext cx="8412600" cy="530400"/>
          </a:xfrm>
          <a:prstGeom prst="rect">
            <a:avLst/>
          </a:prstGeom>
          <a:solidFill>
            <a:srgbClr val="0A1E30"/>
          </a:solidFill>
          <a:ln cap="flat" cmpd="sng" w="9525">
            <a:solidFill>
              <a:srgbClr val="1A3A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0"/>
          <p:cNvSpPr/>
          <p:nvPr/>
        </p:nvSpPr>
        <p:spPr>
          <a:xfrm>
            <a:off x="411480" y="1563624"/>
            <a:ext cx="914400" cy="255900"/>
          </a:xfrm>
          <a:prstGeom prst="roundRect">
            <a:avLst>
              <a:gd fmla="val 14286" name="adj"/>
            </a:avLst>
          </a:prstGeom>
          <a:solidFill>
            <a:srgbClr val="0D1B2A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0"/>
          <p:cNvSpPr/>
          <p:nvPr/>
        </p:nvSpPr>
        <p:spPr>
          <a:xfrm>
            <a:off x="411480" y="1563624"/>
            <a:ext cx="914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DIRECTED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1417320" y="1481328"/>
            <a:ext cx="3200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050"/>
              <a:buFont typeface="Consolas"/>
              <a:buNone/>
            </a:pPr>
            <a:r>
              <a:rPr b="1" i="0" lang="en" sz="1050" u="none" cap="none" strike="noStrike">
                <a:solidFill>
                  <a:srgbClr val="F4A261"/>
                </a:solidFill>
                <a:latin typeface="Consolas"/>
                <a:ea typeface="Consolas"/>
                <a:cs typeface="Consolas"/>
                <a:sym typeface="Consolas"/>
              </a:rPr>
              <a:t>mp_write_only_sequence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1417320" y="1719072"/>
            <a:ext cx="7223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6F2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D9E6F2"/>
                </a:solidFill>
                <a:latin typeface="Calibri"/>
                <a:ea typeface="Calibri"/>
                <a:cs typeface="Calibri"/>
                <a:sym typeface="Calibri"/>
              </a:rPr>
              <a:t>Forces STORE — stresses memory write path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347472" y="2048256"/>
            <a:ext cx="8412600" cy="530400"/>
          </a:xfrm>
          <a:prstGeom prst="rect">
            <a:avLst/>
          </a:prstGeom>
          <a:solidFill>
            <a:srgbClr val="0A1E30"/>
          </a:solidFill>
          <a:ln cap="flat" cmpd="sng" w="9525">
            <a:solidFill>
              <a:srgbClr val="1A3A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0"/>
          <p:cNvSpPr/>
          <p:nvPr/>
        </p:nvSpPr>
        <p:spPr>
          <a:xfrm>
            <a:off x="411480" y="2167128"/>
            <a:ext cx="914400" cy="255900"/>
          </a:xfrm>
          <a:prstGeom prst="roundRect">
            <a:avLst>
              <a:gd fmla="val 14286" name="adj"/>
            </a:avLst>
          </a:prstGeom>
          <a:solidFill>
            <a:srgbClr val="0D1B2A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0"/>
          <p:cNvSpPr/>
          <p:nvPr/>
        </p:nvSpPr>
        <p:spPr>
          <a:xfrm>
            <a:off x="411480" y="2167128"/>
            <a:ext cx="914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DIRECTED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1417320" y="2084832"/>
            <a:ext cx="3200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050"/>
              <a:buFont typeface="Consolas"/>
              <a:buNone/>
            </a:pPr>
            <a:r>
              <a:rPr b="1" i="0" lang="en" sz="1050" u="none" cap="none" strike="noStrike">
                <a:solidFill>
                  <a:srgbClr val="F4A261"/>
                </a:solidFill>
                <a:latin typeface="Consolas"/>
                <a:ea typeface="Consolas"/>
                <a:cs typeface="Consolas"/>
                <a:sym typeface="Consolas"/>
              </a:rPr>
              <a:t>mp_read_only_sequence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1417320" y="2322576"/>
            <a:ext cx="7223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6F2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D9E6F2"/>
                </a:solidFill>
                <a:latin typeface="Calibri"/>
                <a:ea typeface="Calibri"/>
                <a:cs typeface="Calibri"/>
                <a:sym typeface="Calibri"/>
              </a:rPr>
              <a:t>Forces LOAD — stresses memory read path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347472" y="2651760"/>
            <a:ext cx="8412600" cy="530400"/>
          </a:xfrm>
          <a:prstGeom prst="rect">
            <a:avLst/>
          </a:prstGeom>
          <a:solidFill>
            <a:srgbClr val="0A1E30"/>
          </a:solidFill>
          <a:ln cap="flat" cmpd="sng" w="9525">
            <a:solidFill>
              <a:srgbClr val="1A3A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0"/>
          <p:cNvSpPr/>
          <p:nvPr/>
        </p:nvSpPr>
        <p:spPr>
          <a:xfrm>
            <a:off x="411480" y="2770632"/>
            <a:ext cx="914400" cy="255900"/>
          </a:xfrm>
          <a:prstGeom prst="roundRect">
            <a:avLst>
              <a:gd fmla="val 14286" name="adj"/>
            </a:avLst>
          </a:prstGeom>
          <a:solidFill>
            <a:srgbClr val="0D1B2A"/>
          </a:solidFill>
          <a:ln cap="flat" cmpd="sng" w="12700">
            <a:solidFill>
              <a:srgbClr val="1AAB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0"/>
          <p:cNvSpPr/>
          <p:nvPr/>
        </p:nvSpPr>
        <p:spPr>
          <a:xfrm>
            <a:off x="411480" y="2770632"/>
            <a:ext cx="914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ABA9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AABA9"/>
                </a:solidFill>
                <a:latin typeface="Calibri"/>
                <a:ea typeface="Calibri"/>
                <a:cs typeface="Calibri"/>
                <a:sym typeface="Calibri"/>
              </a:rPr>
              <a:t>SCENARIO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1417320" y="2688336"/>
            <a:ext cx="3200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ABA9"/>
              </a:buClr>
              <a:buSzPts val="1050"/>
              <a:buFont typeface="Consolas"/>
              <a:buNone/>
            </a:pPr>
            <a:r>
              <a:rPr b="1" i="0" lang="en" sz="1050" u="none" cap="none" strike="noStrike">
                <a:solidFill>
                  <a:srgbClr val="1AABA9"/>
                </a:solidFill>
                <a:latin typeface="Consolas"/>
                <a:ea typeface="Consolas"/>
                <a:cs typeface="Consolas"/>
                <a:sym typeface="Consolas"/>
              </a:rPr>
              <a:t>mp_write_read_sequence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1417320" y="2926080"/>
            <a:ext cx="7223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6F2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D9E6F2"/>
                </a:solidFill>
                <a:latin typeface="Calibri"/>
                <a:ea typeface="Calibri"/>
                <a:cs typeface="Calibri"/>
                <a:sym typeface="Calibri"/>
              </a:rPr>
              <a:t>STORE → LOAD same address — validates data persistence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347472" y="3255264"/>
            <a:ext cx="8412600" cy="530400"/>
          </a:xfrm>
          <a:prstGeom prst="rect">
            <a:avLst/>
          </a:prstGeom>
          <a:solidFill>
            <a:srgbClr val="0A1E30"/>
          </a:solidFill>
          <a:ln cap="flat" cmpd="sng" w="9525">
            <a:solidFill>
              <a:srgbClr val="1A3A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0"/>
          <p:cNvSpPr/>
          <p:nvPr/>
        </p:nvSpPr>
        <p:spPr>
          <a:xfrm>
            <a:off x="411480" y="3374136"/>
            <a:ext cx="914400" cy="255900"/>
          </a:xfrm>
          <a:prstGeom prst="roundRect">
            <a:avLst>
              <a:gd fmla="val 14286" name="adj"/>
            </a:avLst>
          </a:prstGeom>
          <a:solidFill>
            <a:srgbClr val="0D1B2A"/>
          </a:solidFill>
          <a:ln cap="flat" cmpd="sng" w="12700">
            <a:solidFill>
              <a:srgbClr val="1AAB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0"/>
          <p:cNvSpPr/>
          <p:nvPr/>
        </p:nvSpPr>
        <p:spPr>
          <a:xfrm>
            <a:off x="411480" y="3374136"/>
            <a:ext cx="914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ABA9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AABA9"/>
                </a:solidFill>
                <a:latin typeface="Calibri"/>
                <a:ea typeface="Calibri"/>
                <a:cs typeface="Calibri"/>
                <a:sym typeface="Calibri"/>
              </a:rPr>
              <a:t>SCENARIO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1417320" y="3291840"/>
            <a:ext cx="3200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ABA9"/>
              </a:buClr>
              <a:buSzPts val="1050"/>
              <a:buFont typeface="Consolas"/>
              <a:buNone/>
            </a:pPr>
            <a:r>
              <a:rPr b="1" i="0" lang="en" sz="1050" u="none" cap="none" strike="noStrike">
                <a:solidFill>
                  <a:srgbClr val="1AABA9"/>
                </a:solidFill>
                <a:latin typeface="Consolas"/>
                <a:ea typeface="Consolas"/>
                <a:cs typeface="Consolas"/>
                <a:sym typeface="Consolas"/>
              </a:rPr>
              <a:t>mp_read_write_read_sequence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1417320" y="3529584"/>
            <a:ext cx="7223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6F2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D9E6F2"/>
                </a:solidFill>
                <a:latin typeface="Calibri"/>
                <a:ea typeface="Calibri"/>
                <a:cs typeface="Calibri"/>
                <a:sym typeface="Calibri"/>
              </a:rPr>
              <a:t>LOAD → STORE → LOAD — confirms overwrite correctness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347472" y="3858768"/>
            <a:ext cx="8412600" cy="530400"/>
          </a:xfrm>
          <a:prstGeom prst="rect">
            <a:avLst/>
          </a:prstGeom>
          <a:solidFill>
            <a:srgbClr val="0A1E30"/>
          </a:solidFill>
          <a:ln cap="flat" cmpd="sng" w="9525">
            <a:solidFill>
              <a:srgbClr val="1A3A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0"/>
          <p:cNvSpPr/>
          <p:nvPr/>
        </p:nvSpPr>
        <p:spPr>
          <a:xfrm>
            <a:off x="411480" y="3977640"/>
            <a:ext cx="914400" cy="255900"/>
          </a:xfrm>
          <a:prstGeom prst="roundRect">
            <a:avLst>
              <a:gd fmla="val 14286" name="adj"/>
            </a:avLst>
          </a:prstGeom>
          <a:solidFill>
            <a:srgbClr val="0D1B2A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0"/>
          <p:cNvSpPr/>
          <p:nvPr/>
        </p:nvSpPr>
        <p:spPr>
          <a:xfrm>
            <a:off x="411480" y="3977640"/>
            <a:ext cx="914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C653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2DC653"/>
                </a:solidFill>
                <a:latin typeface="Calibri"/>
                <a:ea typeface="Calibri"/>
                <a:cs typeface="Calibri"/>
                <a:sym typeface="Calibri"/>
              </a:rPr>
              <a:t>CLOSURE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1417320" y="3895344"/>
            <a:ext cx="3200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C653"/>
              </a:buClr>
              <a:buSzPts val="1050"/>
              <a:buFont typeface="Consolas"/>
              <a:buNone/>
            </a:pPr>
            <a:r>
              <a:rPr b="1" i="0" lang="en" sz="1050" u="none" cap="none" strike="noStrike">
                <a:solidFill>
                  <a:srgbClr val="2DC653"/>
                </a:solidFill>
                <a:latin typeface="Consolas"/>
                <a:ea typeface="Consolas"/>
                <a:cs typeface="Consolas"/>
                <a:sym typeface="Consolas"/>
              </a:rPr>
              <a:t>mp_coverage_closure_seq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1417320" y="4133088"/>
            <a:ext cx="7223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6F2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D9E6F2"/>
                </a:solidFill>
                <a:latin typeface="Calibri"/>
                <a:ea typeface="Calibri"/>
                <a:cs typeface="Calibri"/>
                <a:sym typeface="Calibri"/>
              </a:rPr>
              <a:t>Deterministic: 14 opcodes × 3 addr regions × corner operands → 100%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347472" y="4462272"/>
            <a:ext cx="8412600" cy="530400"/>
          </a:xfrm>
          <a:prstGeom prst="rect">
            <a:avLst/>
          </a:prstGeom>
          <a:solidFill>
            <a:srgbClr val="0A1E30"/>
          </a:solidFill>
          <a:ln cap="flat" cmpd="sng" w="9525">
            <a:solidFill>
              <a:srgbClr val="1A3A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0"/>
          <p:cNvSpPr/>
          <p:nvPr/>
        </p:nvSpPr>
        <p:spPr>
          <a:xfrm>
            <a:off x="411480" y="4581144"/>
            <a:ext cx="914400" cy="255900"/>
          </a:xfrm>
          <a:prstGeom prst="roundRect">
            <a:avLst>
              <a:gd fmla="val 14286" name="adj"/>
            </a:avLst>
          </a:prstGeom>
          <a:solidFill>
            <a:srgbClr val="0D1B2A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0"/>
          <p:cNvSpPr/>
          <p:nvPr/>
        </p:nvSpPr>
        <p:spPr>
          <a:xfrm>
            <a:off x="411480" y="4581144"/>
            <a:ext cx="914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VIRTUAL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1417320" y="4498848"/>
            <a:ext cx="3200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050"/>
              <a:buFont typeface="Consolas"/>
              <a:buNone/>
            </a:pPr>
            <a:r>
              <a:rPr b="1" i="0" lang="en" sz="1050" u="none" cap="none" strike="noStrike">
                <a:solidFill>
                  <a:srgbClr val="F4A261"/>
                </a:solidFill>
                <a:latin typeface="Consolas"/>
                <a:ea typeface="Consolas"/>
                <a:cs typeface="Consolas"/>
                <a:sym typeface="Consolas"/>
              </a:rPr>
              <a:t>mp_vseq  /  mp_dynamic_vseq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1417320" y="4736592"/>
            <a:ext cx="7223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6F2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D9E6F2"/>
                </a:solidFill>
                <a:latin typeface="Calibri"/>
                <a:ea typeface="Calibri"/>
                <a:cs typeface="Calibri"/>
                <a:sym typeface="Calibri"/>
              </a:rPr>
              <a:t>Parallel execution across 4 sequencers; semaphore work-stealing pool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1"/>
          <p:cNvSpPr/>
          <p:nvPr/>
        </p:nvSpPr>
        <p:spPr>
          <a:xfrm>
            <a:off x="0" y="0"/>
            <a:ext cx="164700" cy="5143500"/>
          </a:xfrm>
          <a:prstGeom prst="rect">
            <a:avLst/>
          </a:prstGeom>
          <a:solidFill>
            <a:srgbClr val="0E7C7B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1"/>
          <p:cNvSpPr/>
          <p:nvPr/>
        </p:nvSpPr>
        <p:spPr>
          <a:xfrm>
            <a:off x="347475" y="201180"/>
            <a:ext cx="84126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9FC"/>
              </a:buClr>
              <a:buSzPts val="2600"/>
              <a:buFont typeface="Calibri"/>
              <a:buNone/>
            </a:pPr>
            <a:r>
              <a:rPr b="1" i="0" lang="en" sz="2400" u="none" cap="none" strike="noStrike">
                <a:solidFill>
                  <a:srgbClr val="F7F9FC"/>
                </a:solidFill>
                <a:latin typeface="Calibri"/>
                <a:ea typeface="Calibri"/>
                <a:cs typeface="Calibri"/>
                <a:sym typeface="Calibri"/>
              </a:rPr>
              <a:t>Bug Injection Strategy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347472" y="676656"/>
            <a:ext cx="8412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1" name="Google Shape;221;p21"/>
          <p:cNvCxnSpPr/>
          <p:nvPr/>
        </p:nvCxnSpPr>
        <p:spPr>
          <a:xfrm>
            <a:off x="347472" y="969264"/>
            <a:ext cx="8412600" cy="0"/>
          </a:xfrm>
          <a:prstGeom prst="straightConnector1">
            <a:avLst/>
          </a:prstGeom>
          <a:noFill/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2" name="Google Shape;222;p21"/>
          <p:cNvSpPr/>
          <p:nvPr/>
        </p:nvSpPr>
        <p:spPr>
          <a:xfrm>
            <a:off x="347472" y="1078992"/>
            <a:ext cx="8412600" cy="859500"/>
          </a:xfrm>
          <a:prstGeom prst="rect">
            <a:avLst/>
          </a:prstGeom>
          <a:solidFill>
            <a:srgbClr val="090F1A"/>
          </a:solidFill>
          <a:ln cap="flat" cmpd="sng" w="1905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1"/>
          <p:cNvSpPr/>
          <p:nvPr/>
        </p:nvSpPr>
        <p:spPr>
          <a:xfrm>
            <a:off x="347472" y="1078992"/>
            <a:ext cx="777300" cy="859500"/>
          </a:xfrm>
          <a:prstGeom prst="rect">
            <a:avLst/>
          </a:prstGeom>
          <a:solidFill>
            <a:srgbClr val="2DC653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1"/>
          <p:cNvSpPr/>
          <p:nvPr/>
        </p:nvSpPr>
        <p:spPr>
          <a:xfrm>
            <a:off x="347472" y="1078992"/>
            <a:ext cx="7773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No </a:t>
            </a:r>
            <a:r>
              <a:rPr b="1" i="0" lang="en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BUG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1207008" y="1133856"/>
            <a:ext cx="7406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9FC"/>
              </a:buClr>
              <a:buSzPts val="1250"/>
              <a:buFont typeface="Calibri"/>
              <a:buNone/>
            </a:pPr>
            <a:r>
              <a:rPr b="1" i="0" lang="en" sz="1250" u="none" cap="none" strike="noStrike">
                <a:solidFill>
                  <a:srgbClr val="F7F9FC"/>
                </a:solidFill>
                <a:latin typeface="Calibri"/>
                <a:ea typeface="Calibri"/>
                <a:cs typeface="Calibri"/>
                <a:sym typeface="Calibri"/>
              </a:rPr>
              <a:t>No Bug  (clean DUT)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1207008" y="1399032"/>
            <a:ext cx="7406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C653"/>
              </a:buClr>
              <a:buSzPts val="1000"/>
              <a:buFont typeface="Consolas"/>
              <a:buNone/>
            </a:pPr>
            <a:r>
              <a:rPr b="0" i="0" lang="en" sz="1000" u="none" cap="none" strike="noStrike">
                <a:solidFill>
                  <a:srgbClr val="2DC653"/>
                </a:solidFill>
                <a:latin typeface="Consolas"/>
                <a:ea typeface="Consolas"/>
                <a:cs typeface="Consolas"/>
                <a:sym typeface="Consolas"/>
              </a:rPr>
              <a:t>4'b0001: p_res &lt;= A + B;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1207008" y="1645920"/>
            <a:ext cx="7406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3B8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Detection: Baseline</a:t>
            </a:r>
            <a:r>
              <a:rPr lang="en" sz="10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 scoreboard</a:t>
            </a:r>
            <a:r>
              <a:rPr b="0" i="0" lang="en" sz="1000" u="none" cap="none" strike="noStrike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 passes, 100% coverage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1"/>
          <p:cNvSpPr/>
          <p:nvPr/>
        </p:nvSpPr>
        <p:spPr>
          <a:xfrm>
            <a:off x="347472" y="2020824"/>
            <a:ext cx="8412600" cy="859500"/>
          </a:xfrm>
          <a:prstGeom prst="rect">
            <a:avLst/>
          </a:prstGeom>
          <a:solidFill>
            <a:srgbClr val="090F1A"/>
          </a:solidFill>
          <a:ln cap="flat" cmpd="sng" w="1905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1"/>
          <p:cNvSpPr/>
          <p:nvPr/>
        </p:nvSpPr>
        <p:spPr>
          <a:xfrm>
            <a:off x="347472" y="2020824"/>
            <a:ext cx="777300" cy="859500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1"/>
          <p:cNvSpPr/>
          <p:nvPr/>
        </p:nvSpPr>
        <p:spPr>
          <a:xfrm>
            <a:off x="347472" y="2020824"/>
            <a:ext cx="7773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BUG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1207008" y="2075688"/>
            <a:ext cx="7406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9FC"/>
              </a:buClr>
              <a:buSzPts val="1250"/>
              <a:buFont typeface="Calibri"/>
              <a:buNone/>
            </a:pPr>
            <a:r>
              <a:rPr b="1" i="0" lang="en" sz="1250" u="none" cap="none" strike="noStrike">
                <a:solidFill>
                  <a:srgbClr val="F7F9FC"/>
                </a:solidFill>
                <a:latin typeface="Calibri"/>
                <a:ea typeface="Calibri"/>
                <a:cs typeface="Calibri"/>
                <a:sym typeface="Calibri"/>
              </a:rPr>
              <a:t>ADD computes A−B instead of A+B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1207008" y="2340864"/>
            <a:ext cx="7406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000"/>
              <a:buFont typeface="Consolas"/>
              <a:buNone/>
            </a:pPr>
            <a:r>
              <a:rPr b="0" i="0" lang="en" sz="1000" u="none" cap="none" strike="noStrike">
                <a:solidFill>
                  <a:srgbClr val="F4A261"/>
                </a:solidFill>
                <a:latin typeface="Consolas"/>
                <a:ea typeface="Consolas"/>
                <a:cs typeface="Consolas"/>
                <a:sym typeface="Consolas"/>
              </a:rPr>
              <a:t>4'b0001: p_res &lt;= A - B;  // BUG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1207008" y="2587752"/>
            <a:ext cx="7406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3B8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Detection: mp_add_directed_seq: 8 vectors where A≠B </a:t>
            </a:r>
            <a:r>
              <a:rPr lang="en" sz="10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1000" u="none" cap="none" strike="noStrike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immediate mismatch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347472" y="2962656"/>
            <a:ext cx="8412600" cy="859500"/>
          </a:xfrm>
          <a:prstGeom prst="rect">
            <a:avLst/>
          </a:prstGeom>
          <a:solidFill>
            <a:srgbClr val="090F1A"/>
          </a:solidFill>
          <a:ln cap="flat" cmpd="sng" w="1905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1"/>
          <p:cNvSpPr/>
          <p:nvPr/>
        </p:nvSpPr>
        <p:spPr>
          <a:xfrm>
            <a:off x="347472" y="2962656"/>
            <a:ext cx="777300" cy="859500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1"/>
          <p:cNvSpPr/>
          <p:nvPr/>
        </p:nvSpPr>
        <p:spPr>
          <a:xfrm>
            <a:off x="347472" y="2962656"/>
            <a:ext cx="7773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BUG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1"/>
          <p:cNvSpPr/>
          <p:nvPr/>
        </p:nvSpPr>
        <p:spPr>
          <a:xfrm>
            <a:off x="1207008" y="3017520"/>
            <a:ext cx="7406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9FC"/>
              </a:buClr>
              <a:buSzPts val="1250"/>
              <a:buFont typeface="Calibri"/>
              <a:buNone/>
            </a:pPr>
            <a:r>
              <a:rPr b="1" lang="en" sz="1250">
                <a:solidFill>
                  <a:srgbClr val="F7F9FC"/>
                </a:solidFill>
                <a:latin typeface="Calibri"/>
                <a:ea typeface="Calibri"/>
                <a:cs typeface="Calibri"/>
                <a:sym typeface="Calibri"/>
              </a:rPr>
              <a:t>Arbiter Fairness Bug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1"/>
          <p:cNvSpPr/>
          <p:nvPr/>
        </p:nvSpPr>
        <p:spPr>
          <a:xfrm>
            <a:off x="1207008" y="3282696"/>
            <a:ext cx="7406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000"/>
              <a:buFont typeface="Consolas"/>
              <a:buNone/>
            </a:pPr>
            <a:r>
              <a:rPr lang="en" sz="1000">
                <a:solidFill>
                  <a:srgbClr val="F4A261"/>
                </a:solidFill>
                <a:latin typeface="Consolas"/>
                <a:ea typeface="Consolas"/>
                <a:cs typeface="Consolas"/>
                <a:sym typeface="Consolas"/>
              </a:rPr>
              <a:t>selected_core &lt;= 2'b00; // only core 0 is performing all the transaction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1"/>
          <p:cNvSpPr/>
          <p:nvPr/>
        </p:nvSpPr>
        <p:spPr>
          <a:xfrm>
            <a:off x="1207008" y="3529584"/>
            <a:ext cx="7406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3B8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Detection: </a:t>
            </a:r>
            <a:r>
              <a:rPr lang="en" sz="10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CP_CORE gets 25% coverage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1"/>
          <p:cNvSpPr/>
          <p:nvPr/>
        </p:nvSpPr>
        <p:spPr>
          <a:xfrm>
            <a:off x="347472" y="3904488"/>
            <a:ext cx="8412600" cy="859500"/>
          </a:xfrm>
          <a:prstGeom prst="rect">
            <a:avLst/>
          </a:prstGeom>
          <a:solidFill>
            <a:srgbClr val="090F1A"/>
          </a:solidFill>
          <a:ln cap="flat" cmpd="sng" w="1905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1"/>
          <p:cNvSpPr/>
          <p:nvPr/>
        </p:nvSpPr>
        <p:spPr>
          <a:xfrm>
            <a:off x="347472" y="3904488"/>
            <a:ext cx="777300" cy="85950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1"/>
          <p:cNvSpPr/>
          <p:nvPr/>
        </p:nvSpPr>
        <p:spPr>
          <a:xfrm>
            <a:off x="347472" y="3904488"/>
            <a:ext cx="7773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BUG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1"/>
          <p:cNvSpPr/>
          <p:nvPr/>
        </p:nvSpPr>
        <p:spPr>
          <a:xfrm>
            <a:off x="1207008" y="3959352"/>
            <a:ext cx="7406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9FC"/>
              </a:buClr>
              <a:buSzPts val="1250"/>
              <a:buFont typeface="Calibri"/>
              <a:buNone/>
            </a:pPr>
            <a:r>
              <a:rPr b="1" i="0" lang="en" sz="1250" u="none" cap="none" strike="noStrike">
                <a:solidFill>
                  <a:srgbClr val="F7F9FC"/>
                </a:solidFill>
                <a:latin typeface="Calibri"/>
                <a:ea typeface="Calibri"/>
                <a:cs typeface="Calibri"/>
                <a:sym typeface="Calibri"/>
              </a:rPr>
              <a:t>STORE never writes to memory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1"/>
          <p:cNvSpPr/>
          <p:nvPr/>
        </p:nvSpPr>
        <p:spPr>
          <a:xfrm>
            <a:off x="1207008" y="4224528"/>
            <a:ext cx="7406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000"/>
              <a:buFont typeface="Consolas"/>
              <a:buNone/>
            </a:pPr>
            <a:r>
              <a:rPr b="0" i="0" lang="en" sz="1000" u="none" cap="none" strike="noStrike">
                <a:solidFill>
                  <a:srgbClr val="E63946"/>
                </a:solidFill>
                <a:latin typeface="Consolas"/>
                <a:ea typeface="Consolas"/>
                <a:cs typeface="Consolas"/>
                <a:sym typeface="Consolas"/>
              </a:rPr>
              <a:t>// mem[addr] &lt;= A;  REMOVED silent corruption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1"/>
          <p:cNvSpPr/>
          <p:nvPr/>
        </p:nvSpPr>
        <p:spPr>
          <a:xfrm>
            <a:off x="1207008" y="4471416"/>
            <a:ext cx="7406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3B8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Detection: mp_write_read_sequence: LOAD after STORE reads stale zero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2"/>
          <p:cNvSpPr txBox="1"/>
          <p:nvPr>
            <p:ph type="title"/>
          </p:nvPr>
        </p:nvSpPr>
        <p:spPr>
          <a:xfrm>
            <a:off x="311700" y="202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Sample Results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51" name="Google Shape;251;p22"/>
          <p:cNvSpPr txBox="1"/>
          <p:nvPr>
            <p:ph idx="1" type="body"/>
          </p:nvPr>
        </p:nvSpPr>
        <p:spPr>
          <a:xfrm>
            <a:off x="311700" y="854450"/>
            <a:ext cx="8520600" cy="421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" sz="1600">
                <a:solidFill>
                  <a:schemeClr val="lt1"/>
                </a:solidFill>
              </a:rPr>
              <a:t>No Bug</a:t>
            </a:r>
            <a:endParaRPr sz="16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" sz="1600">
                <a:solidFill>
                  <a:schemeClr val="lt1"/>
                </a:solidFill>
              </a:rPr>
              <a:t>Bug 1 - Arithmetic ALU (op:1 Addition)</a:t>
            </a:r>
            <a:endParaRPr sz="1600">
              <a:solidFill>
                <a:schemeClr val="lt1"/>
              </a:solidFill>
            </a:endParaRPr>
          </a:p>
        </p:txBody>
      </p:sp>
      <p:pic>
        <p:nvPicPr>
          <p:cNvPr id="252" name="Google Shape;252;p22" title="Screenshot 2026-03-15 at 12.40.4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340900"/>
            <a:ext cx="8636701" cy="115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2" title="Screenshot 2026-03-15 at 12.42.39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3878050"/>
            <a:ext cx="8520600" cy="114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2" title="Screenshot 2026-03-15 at 12.45.40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3264200"/>
            <a:ext cx="7185752" cy="53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3"/>
          <p:cNvSpPr txBox="1"/>
          <p:nvPr>
            <p:ph type="title"/>
          </p:nvPr>
        </p:nvSpPr>
        <p:spPr>
          <a:xfrm>
            <a:off x="311700" y="193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Cont…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60" name="Google Shape;260;p23"/>
          <p:cNvSpPr txBox="1"/>
          <p:nvPr>
            <p:ph idx="1" type="body"/>
          </p:nvPr>
        </p:nvSpPr>
        <p:spPr>
          <a:xfrm>
            <a:off x="311700" y="766425"/>
            <a:ext cx="8520600" cy="38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" sz="1600">
                <a:solidFill>
                  <a:schemeClr val="lt1"/>
                </a:solidFill>
              </a:rPr>
              <a:t>Bug 2 - Arbiter Fairness 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" sz="1600">
                <a:solidFill>
                  <a:schemeClr val="lt1"/>
                </a:solidFill>
              </a:rPr>
              <a:t>Bug 3 - Memory </a:t>
            </a:r>
            <a:r>
              <a:rPr lang="en" sz="1600">
                <a:solidFill>
                  <a:schemeClr val="lt1"/>
                </a:solidFill>
              </a:rPr>
              <a:t>Coherency</a:t>
            </a:r>
            <a:endParaRPr sz="16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</p:txBody>
      </p:sp>
      <p:pic>
        <p:nvPicPr>
          <p:cNvPr id="261" name="Google Shape;261;p23" title="Screenshot 2026-03-15 at 1.01.5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0950" y="1228100"/>
            <a:ext cx="7288024" cy="348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3" title="Screenshot 2026-03-15 at 1.05.23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0950" y="3037550"/>
            <a:ext cx="7472324" cy="39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3" title="Screenshot 2026-03-15 at 1.08.40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71225" y="3518050"/>
            <a:ext cx="7589576" cy="109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322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4"/>
          <p:cNvSpPr/>
          <p:nvPr/>
        </p:nvSpPr>
        <p:spPr>
          <a:xfrm>
            <a:off x="0" y="868680"/>
            <a:ext cx="9144000" cy="4560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4"/>
          <p:cNvSpPr/>
          <p:nvPr/>
        </p:nvSpPr>
        <p:spPr>
          <a:xfrm>
            <a:off x="365760" y="164592"/>
            <a:ext cx="8412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Team Contributions</a:t>
            </a:r>
            <a:endParaRPr/>
          </a:p>
        </p:txBody>
      </p:sp>
      <p:sp>
        <p:nvSpPr>
          <p:cNvPr id="271" name="Google Shape;271;p24"/>
          <p:cNvSpPr/>
          <p:nvPr/>
        </p:nvSpPr>
        <p:spPr>
          <a:xfrm>
            <a:off x="274320" y="1005840"/>
            <a:ext cx="2743200" cy="3292500"/>
          </a:xfrm>
          <a:prstGeom prst="rect">
            <a:avLst/>
          </a:prstGeom>
          <a:solidFill>
            <a:srgbClr val="0A1E2E"/>
          </a:solidFill>
          <a:ln cap="flat" cmpd="sng" w="19050">
            <a:solidFill>
              <a:srgbClr val="00C2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8600" lIns="228600" spcFirstLastPara="1" rIns="228600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Janvier Mpfizi Rutihunza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RTL Design Lead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Driver, Monitor &amp; Sequencer</a:t>
            </a:r>
            <a:endParaRPr/>
          </a:p>
          <a:p>
            <a:pPr indent="-91440" lvl="0" marL="9144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C2CB"/>
              </a:buClr>
              <a:buSzPts val="900"/>
              <a:buFont typeface="Calibri"/>
              <a:buChar char="▸"/>
            </a:pPr>
            <a:r>
              <a:rPr b="0" i="0" lang="en" sz="850" u="none" cap="none" strike="noStrike">
                <a:solidFill>
                  <a:srgbClr val="C8E6E8"/>
                </a:solidFill>
                <a:latin typeface="Calibri"/>
                <a:ea typeface="Calibri"/>
                <a:cs typeface="Calibri"/>
                <a:sym typeface="Calibri"/>
              </a:rPr>
              <a:t>mp_driver: drive_tx() + grant_wait loop</a:t>
            </a:r>
            <a:endParaRPr/>
          </a:p>
          <a:p>
            <a:pPr indent="-91440" lvl="0" marL="9144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C2CB"/>
              </a:buClr>
              <a:buSzPts val="900"/>
              <a:buFont typeface="Calibri"/>
              <a:buChar char="▸"/>
            </a:pPr>
            <a:r>
              <a:rPr b="0" i="0" lang="en" sz="850" u="none" cap="none" strike="noStrike">
                <a:solidFill>
                  <a:srgbClr val="C8E6E8"/>
                </a:solidFill>
                <a:latin typeface="Calibri"/>
                <a:ea typeface="Calibri"/>
                <a:cs typeface="Calibri"/>
                <a:sym typeface="Calibri"/>
              </a:rPr>
              <a:t>mp_monitor: @(gnt) capture &amp; forward</a:t>
            </a:r>
            <a:endParaRPr/>
          </a:p>
          <a:p>
            <a:pPr indent="-91440" lvl="0" marL="9144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C2CB"/>
              </a:buClr>
              <a:buSzPts val="900"/>
              <a:buFont typeface="Calibri"/>
              <a:buChar char="▸"/>
            </a:pPr>
            <a:r>
              <a:rPr b="0" i="0" lang="en" sz="850" u="none" cap="none" strike="noStrike">
                <a:solidFill>
                  <a:srgbClr val="C8E6E8"/>
                </a:solidFill>
                <a:latin typeface="Calibri"/>
                <a:ea typeface="Calibri"/>
                <a:cs typeface="Calibri"/>
                <a:sym typeface="Calibri"/>
              </a:rPr>
              <a:t>mp_agent: seqr + drv + mon</a:t>
            </a:r>
            <a:endParaRPr/>
          </a:p>
          <a:p>
            <a:pPr indent="-91440" lvl="0" marL="9144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C2CB"/>
              </a:buClr>
              <a:buSzPts val="900"/>
              <a:buFont typeface="Calibri"/>
              <a:buChar char="▸"/>
            </a:pPr>
            <a:r>
              <a:rPr b="0" i="0" lang="en" sz="850" u="none" cap="none" strike="noStrike">
                <a:solidFill>
                  <a:srgbClr val="C8E6E8"/>
                </a:solidFill>
                <a:latin typeface="Calibri"/>
                <a:ea typeface="Calibri"/>
                <a:cs typeface="Calibri"/>
                <a:sym typeface="Calibri"/>
              </a:rPr>
              <a:t>4-core RTL &amp; round-robin arbiter</a:t>
            </a:r>
            <a:endParaRPr/>
          </a:p>
          <a:p>
            <a:pPr indent="-91440" lvl="0" marL="9144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C2CB"/>
              </a:buClr>
              <a:buSzPts val="900"/>
              <a:buFont typeface="Calibri"/>
              <a:buChar char="▸"/>
            </a:pPr>
            <a:r>
              <a:rPr b="0" i="0" lang="en" sz="850" u="none" cap="none" strike="noStrike">
                <a:solidFill>
                  <a:srgbClr val="C8E6E8"/>
                </a:solidFill>
                <a:latin typeface="Calibri"/>
                <a:ea typeface="Calibri"/>
                <a:cs typeface="Calibri"/>
                <a:sym typeface="Calibri"/>
              </a:rPr>
              <a:t>Shared memory subsystem design</a:t>
            </a:r>
            <a:endParaRPr/>
          </a:p>
        </p:txBody>
      </p:sp>
      <p:sp>
        <p:nvSpPr>
          <p:cNvPr id="272" name="Google Shape;272;p24"/>
          <p:cNvSpPr/>
          <p:nvPr/>
        </p:nvSpPr>
        <p:spPr>
          <a:xfrm>
            <a:off x="3200400" y="1005840"/>
            <a:ext cx="2743200" cy="3292500"/>
          </a:xfrm>
          <a:prstGeom prst="rect">
            <a:avLst/>
          </a:prstGeom>
          <a:solidFill>
            <a:srgbClr val="0A1E2E"/>
          </a:solidFill>
          <a:ln cap="flat" cmpd="sng" w="19050">
            <a:solidFill>
              <a:srgbClr val="00C2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8600" lIns="228600" spcFirstLastPara="1" rIns="228600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Frezewd Debebe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Verification Environment Lead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Sequence, Test &amp; TB_TOP</a:t>
            </a:r>
            <a:endParaRPr/>
          </a:p>
          <a:p>
            <a:pPr indent="-91440" lvl="0" marL="9144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C2CB"/>
              </a:buClr>
              <a:buSzPts val="900"/>
              <a:buFont typeface="Calibri"/>
              <a:buChar char="▸"/>
            </a:pPr>
            <a:r>
              <a:rPr b="0" i="0" lang="en" sz="850" u="none" cap="none" strike="noStrike">
                <a:solidFill>
                  <a:srgbClr val="C8E6E8"/>
                </a:solidFill>
                <a:latin typeface="Calibri"/>
                <a:ea typeface="Calibri"/>
                <a:cs typeface="Calibri"/>
                <a:sym typeface="Calibri"/>
              </a:rPr>
              <a:t>mp_env: core_agnt[4], scb, cov</a:t>
            </a:r>
            <a:endParaRPr/>
          </a:p>
          <a:p>
            <a:pPr indent="-91440" lvl="0" marL="9144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C2CB"/>
              </a:buClr>
              <a:buSzPts val="900"/>
              <a:buFont typeface="Calibri"/>
              <a:buChar char="▸"/>
            </a:pPr>
            <a:r>
              <a:rPr b="0" i="0" lang="en" sz="850" u="none" cap="none" strike="noStrike">
                <a:solidFill>
                  <a:srgbClr val="C8E6E8"/>
                </a:solidFill>
                <a:latin typeface="Calibri"/>
                <a:ea typeface="Calibri"/>
                <a:cs typeface="Calibri"/>
                <a:sym typeface="Calibri"/>
              </a:rPr>
              <a:t>mp_test / mp_alu_test / mp_coverage_test</a:t>
            </a:r>
            <a:endParaRPr/>
          </a:p>
          <a:p>
            <a:pPr indent="-91440" lvl="0" marL="9144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C2CB"/>
              </a:buClr>
              <a:buSzPts val="900"/>
              <a:buFont typeface="Calibri"/>
              <a:buChar char="▸"/>
            </a:pPr>
            <a:r>
              <a:rPr b="0" i="0" lang="en" sz="850" u="none" cap="none" strike="noStrike">
                <a:solidFill>
                  <a:srgbClr val="C8E6E8"/>
                </a:solidFill>
                <a:latin typeface="Calibri"/>
                <a:ea typeface="Calibri"/>
                <a:cs typeface="Calibri"/>
                <a:sym typeface="Calibri"/>
              </a:rPr>
              <a:t>tb_top: DUT instantiation &amp; interface</a:t>
            </a:r>
            <a:endParaRPr/>
          </a:p>
          <a:p>
            <a:pPr indent="-91440" lvl="0" marL="9144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C2CB"/>
              </a:buClr>
              <a:buSzPts val="900"/>
              <a:buFont typeface="Calibri"/>
              <a:buChar char="▸"/>
            </a:pPr>
            <a:r>
              <a:rPr b="0" i="0" lang="en" sz="850" u="none" cap="none" strike="noStrike">
                <a:solidFill>
                  <a:srgbClr val="C8E6E8"/>
                </a:solidFill>
                <a:latin typeface="Calibri"/>
                <a:ea typeface="Calibri"/>
                <a:cs typeface="Calibri"/>
                <a:sym typeface="Calibri"/>
              </a:rPr>
              <a:t>mp_scoreboard: predict + compare</a:t>
            </a:r>
            <a:endParaRPr/>
          </a:p>
          <a:p>
            <a:pPr indent="-91440" lvl="0" marL="9144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C2CB"/>
              </a:buClr>
              <a:buSzPts val="900"/>
              <a:buFont typeface="Calibri"/>
              <a:buChar char="▸"/>
            </a:pPr>
            <a:r>
              <a:rPr b="0" i="0" lang="en" sz="850" u="none" cap="none" strike="noStrike">
                <a:solidFill>
                  <a:srgbClr val="C8E6E8"/>
                </a:solidFill>
                <a:latin typeface="Calibri"/>
                <a:ea typeface="Calibri"/>
                <a:cs typeface="Calibri"/>
                <a:sym typeface="Calibri"/>
              </a:rPr>
              <a:t>Virtual sequences (mp_vseq)</a:t>
            </a:r>
            <a:endParaRPr/>
          </a:p>
        </p:txBody>
      </p:sp>
      <p:sp>
        <p:nvSpPr>
          <p:cNvPr id="273" name="Google Shape;273;p24"/>
          <p:cNvSpPr/>
          <p:nvPr/>
        </p:nvSpPr>
        <p:spPr>
          <a:xfrm>
            <a:off x="6126480" y="1005840"/>
            <a:ext cx="2743200" cy="3292500"/>
          </a:xfrm>
          <a:prstGeom prst="rect">
            <a:avLst/>
          </a:prstGeom>
          <a:solidFill>
            <a:srgbClr val="0A1E2E"/>
          </a:solidFill>
          <a:ln cap="flat" cmpd="sng" w="19050">
            <a:solidFill>
              <a:srgbClr val="00C2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8600" lIns="228600" spcFirstLastPara="1" rIns="228600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Sal Esmaeil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Sequences &amp; Coverage Lead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Bug Injection</a:t>
            </a:r>
            <a:endParaRPr/>
          </a:p>
          <a:p>
            <a:pPr indent="-91440" lvl="0" marL="9144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C2CB"/>
              </a:buClr>
              <a:buSzPts val="900"/>
              <a:buFont typeface="Calibri"/>
              <a:buChar char="▸"/>
            </a:pPr>
            <a:r>
              <a:rPr b="0" i="0" lang="en" sz="850" u="none" cap="none" strike="noStrike">
                <a:solidFill>
                  <a:srgbClr val="C8E6E8"/>
                </a:solidFill>
                <a:latin typeface="Calibri"/>
                <a:ea typeface="Calibri"/>
                <a:cs typeface="Calibri"/>
                <a:sym typeface="Calibri"/>
              </a:rPr>
              <a:t>Bug 1: ADD computes A−B (arithmetic)</a:t>
            </a:r>
            <a:endParaRPr/>
          </a:p>
          <a:p>
            <a:pPr indent="-91440" lvl="0" marL="9144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C2CB"/>
              </a:buClr>
              <a:buSzPts val="900"/>
              <a:buFont typeface="Calibri"/>
              <a:buChar char="▸"/>
            </a:pPr>
            <a:r>
              <a:rPr b="0" i="0" lang="en" sz="850" u="none" cap="none" strike="noStrike">
                <a:solidFill>
                  <a:srgbClr val="C8E6E8"/>
                </a:solidFill>
                <a:latin typeface="Calibri"/>
                <a:ea typeface="Calibri"/>
                <a:cs typeface="Calibri"/>
                <a:sym typeface="Calibri"/>
              </a:rPr>
              <a:t>Bug 2: Arbiter locked to Core 0 only</a:t>
            </a:r>
            <a:endParaRPr/>
          </a:p>
          <a:p>
            <a:pPr indent="-91440" lvl="0" marL="9144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C2CB"/>
              </a:buClr>
              <a:buSzPts val="900"/>
              <a:buFont typeface="Calibri"/>
              <a:buChar char="▸"/>
            </a:pPr>
            <a:r>
              <a:rPr b="0" i="0" lang="en" sz="850" u="none" cap="none" strike="noStrike">
                <a:solidFill>
                  <a:srgbClr val="C8E6E8"/>
                </a:solidFill>
                <a:latin typeface="Calibri"/>
                <a:ea typeface="Calibri"/>
                <a:cs typeface="Calibri"/>
                <a:sym typeface="Calibri"/>
              </a:rPr>
              <a:t>Bug 3: STORE silent memory corruption</a:t>
            </a:r>
            <a:endParaRPr/>
          </a:p>
          <a:p>
            <a:pPr indent="-91440" lvl="0" marL="9144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C2CB"/>
              </a:buClr>
              <a:buSzPts val="900"/>
              <a:buFont typeface="Calibri"/>
              <a:buChar char="▸"/>
            </a:pPr>
            <a:r>
              <a:rPr b="0" i="0" lang="en" sz="850" u="none" cap="none" strike="noStrike">
                <a:solidFill>
                  <a:srgbClr val="C8E6E8"/>
                </a:solidFill>
                <a:latin typeface="Calibri"/>
                <a:ea typeface="Calibri"/>
                <a:cs typeface="Calibri"/>
                <a:sym typeface="Calibri"/>
              </a:rPr>
              <a:t>Coverage model: 89 bins, CROSS_CORE_OP</a:t>
            </a:r>
            <a:endParaRPr/>
          </a:p>
          <a:p>
            <a:pPr indent="-91440" lvl="0" marL="9144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C2CB"/>
              </a:buClr>
              <a:buSzPts val="900"/>
              <a:buFont typeface="Calibri"/>
              <a:buChar char="▸"/>
            </a:pPr>
            <a:r>
              <a:rPr b="0" i="0" lang="en" sz="850" u="none" cap="none" strike="noStrike">
                <a:solidFill>
                  <a:srgbClr val="C8E6E8"/>
                </a:solidFill>
                <a:latin typeface="Calibri"/>
                <a:ea typeface="Calibri"/>
                <a:cs typeface="Calibri"/>
                <a:sym typeface="Calibri"/>
              </a:rPr>
              <a:t>100% coverage closure (clean DUT)</a:t>
            </a:r>
            <a:endParaRPr/>
          </a:p>
        </p:txBody>
      </p:sp>
      <p:sp>
        <p:nvSpPr>
          <p:cNvPr id="274" name="Google Shape;274;p24"/>
          <p:cNvSpPr/>
          <p:nvPr/>
        </p:nvSpPr>
        <p:spPr>
          <a:xfrm>
            <a:off x="274320" y="4389360"/>
            <a:ext cx="8595300" cy="228600"/>
          </a:xfrm>
          <a:prstGeom prst="rect">
            <a:avLst/>
          </a:prstGeom>
          <a:solidFill>
            <a:srgbClr val="0A3D4A"/>
          </a:solidFill>
          <a:ln cap="flat" cmpd="sng" w="12700">
            <a:solidFill>
              <a:srgbClr val="00C2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228600" spcFirstLastPara="1" rIns="2286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All members contributed to: </a:t>
            </a: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Testing • Code Review • Documentation • Presentation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322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5"/>
          <p:cNvSpPr/>
          <p:nvPr/>
        </p:nvSpPr>
        <p:spPr>
          <a:xfrm>
            <a:off x="0" y="868680"/>
            <a:ext cx="9144000" cy="4560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5"/>
          <p:cNvSpPr/>
          <p:nvPr/>
        </p:nvSpPr>
        <p:spPr>
          <a:xfrm>
            <a:off x="365760" y="164592"/>
            <a:ext cx="8412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/>
          </a:p>
        </p:txBody>
      </p:sp>
      <p:sp>
        <p:nvSpPr>
          <p:cNvPr id="282" name="Google Shape;282;p25"/>
          <p:cNvSpPr/>
          <p:nvPr/>
        </p:nvSpPr>
        <p:spPr>
          <a:xfrm>
            <a:off x="365760" y="1097280"/>
            <a:ext cx="8412600" cy="731400"/>
          </a:xfrm>
          <a:prstGeom prst="rect">
            <a:avLst/>
          </a:prstGeom>
          <a:solidFill>
            <a:srgbClr val="132232"/>
          </a:solidFill>
          <a:ln cap="flat" cmpd="sng" w="12700">
            <a:solidFill>
              <a:srgbClr val="00C2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28600" spcFirstLastPara="1" rIns="2286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[1]  Siemens | UVM Basics  </a:t>
            </a:r>
            <a:r>
              <a:rPr b="0" i="0" lang="en" sz="10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https://www.youtube.com/watch?v=-WmTiQiTwco&amp;list=PLWPf2kTT1_Z20pIAfQJ2qyNXLCLM1kUPB</a:t>
            </a:r>
            <a:endParaRPr/>
          </a:p>
        </p:txBody>
      </p:sp>
      <p:sp>
        <p:nvSpPr>
          <p:cNvPr id="283" name="Google Shape;283;p25"/>
          <p:cNvSpPr/>
          <p:nvPr/>
        </p:nvSpPr>
        <p:spPr>
          <a:xfrm>
            <a:off x="365760" y="1920240"/>
            <a:ext cx="8412600" cy="731400"/>
          </a:xfrm>
          <a:prstGeom prst="rect">
            <a:avLst/>
          </a:prstGeom>
          <a:solidFill>
            <a:srgbClr val="132232"/>
          </a:solidFill>
          <a:ln cap="flat" cmpd="sng" w="12700">
            <a:solidFill>
              <a:srgbClr val="00C2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28600" spcFirstLastPara="1" rIns="2286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[2]  Semiconductor Club  </a:t>
            </a:r>
            <a:r>
              <a:rPr b="0" i="0" lang="en" sz="10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https://www.youtube.com/watch?v=JRfmSv5INP8</a:t>
            </a:r>
            <a:endParaRPr/>
          </a:p>
        </p:txBody>
      </p:sp>
      <p:sp>
        <p:nvSpPr>
          <p:cNvPr id="284" name="Google Shape;284;p25"/>
          <p:cNvSpPr/>
          <p:nvPr/>
        </p:nvSpPr>
        <p:spPr>
          <a:xfrm>
            <a:off x="365760" y="2743200"/>
            <a:ext cx="8412600" cy="731400"/>
          </a:xfrm>
          <a:prstGeom prst="rect">
            <a:avLst/>
          </a:prstGeom>
          <a:solidFill>
            <a:srgbClr val="132232"/>
          </a:solidFill>
          <a:ln cap="flat" cmpd="sng" w="12700">
            <a:solidFill>
              <a:srgbClr val="00C2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28600" spcFirstLastPara="1" rIns="2286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[3]  GitHub  </a:t>
            </a:r>
            <a:r>
              <a:rPr b="0" i="0" lang="en" sz="10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https://github.com/ahmd-kamel/Memory-Verification-using-UVM/blob/main/Class%20Based%20Env/coverage.sv</a:t>
            </a:r>
            <a:endParaRPr/>
          </a:p>
        </p:txBody>
      </p:sp>
      <p:sp>
        <p:nvSpPr>
          <p:cNvPr id="285" name="Google Shape;285;p25"/>
          <p:cNvSpPr/>
          <p:nvPr/>
        </p:nvSpPr>
        <p:spPr>
          <a:xfrm>
            <a:off x="365760" y="3657600"/>
            <a:ext cx="8412600" cy="548700"/>
          </a:xfrm>
          <a:prstGeom prst="rect">
            <a:avLst/>
          </a:prstGeom>
          <a:solidFill>
            <a:srgbClr val="0A3D4A"/>
          </a:solidFill>
          <a:ln cap="flat" cmpd="sng" w="12700">
            <a:solidFill>
              <a:srgbClr val="00C2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28600" spcFirstLastPara="1" rIns="2286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Course Material  </a:t>
            </a: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ECE-593: Fundamentals of Pre-Silicon Validation  |  Prof. Venkatesh Patil  |  Portland State University  |  Winter 2026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